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6" r:id="rId4"/>
  </p:sldMasterIdLst>
  <p:notesMasterIdLst>
    <p:notesMasterId r:id="rId18"/>
  </p:notesMasterIdLst>
  <p:handoutMasterIdLst>
    <p:handoutMasterId r:id="rId19"/>
  </p:handoutMasterIdLst>
  <p:sldIdLst>
    <p:sldId id="332" r:id="rId5"/>
    <p:sldId id="333" r:id="rId6"/>
    <p:sldId id="336" r:id="rId7"/>
    <p:sldId id="337" r:id="rId8"/>
    <p:sldId id="346" r:id="rId9"/>
    <p:sldId id="338" r:id="rId10"/>
    <p:sldId id="339" r:id="rId11"/>
    <p:sldId id="348" r:id="rId12"/>
    <p:sldId id="349" r:id="rId13"/>
    <p:sldId id="350" r:id="rId14"/>
    <p:sldId id="352" r:id="rId15"/>
    <p:sldId id="353" r:id="rId16"/>
    <p:sldId id="35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p:cViewPr varScale="1">
        <p:scale>
          <a:sx n="113" d="100"/>
          <a:sy n="113" d="100"/>
        </p:scale>
        <p:origin x="510" y="102"/>
      </p:cViewPr>
      <p:guideLst>
        <p:guide orient="horz" pos="2160"/>
        <p:guide pos="3840"/>
      </p:guideLst>
    </p:cSldViewPr>
  </p:slideViewPr>
  <p:outlineViewPr>
    <p:cViewPr>
      <p:scale>
        <a:sx n="33" d="100"/>
        <a:sy n="33" d="100"/>
      </p:scale>
      <p:origin x="0" y="-3456"/>
    </p:cViewPr>
  </p:outlineViewPr>
  <p:notesTextViewPr>
    <p:cViewPr>
      <p:scale>
        <a:sx n="1" d="1"/>
        <a:sy n="1" d="1"/>
      </p:scale>
      <p:origin x="0" y="0"/>
    </p:cViewPr>
  </p:notesTextViewPr>
  <p:sorterViewPr>
    <p:cViewPr>
      <p:scale>
        <a:sx n="100" d="100"/>
        <a:sy n="100" d="100"/>
      </p:scale>
      <p:origin x="0" y="-7325"/>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D8E7403-EB4A-4177-AFCE-6A9D7B160C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AC49177-C030-4043-9380-EA6E4C94A1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C7415F-6970-4DE4-93F1-94FEF07D0F1C}" type="datetimeFigureOut">
              <a:rPr lang="en-US" smtClean="0"/>
              <a:t>8/31/2024</a:t>
            </a:fld>
            <a:endParaRPr lang="en-US" dirty="0"/>
          </a:p>
        </p:txBody>
      </p:sp>
      <p:sp>
        <p:nvSpPr>
          <p:cNvPr id="4" name="Footer Placeholder 3">
            <a:extLst>
              <a:ext uri="{FF2B5EF4-FFF2-40B4-BE49-F238E27FC236}">
                <a16:creationId xmlns:a16="http://schemas.microsoft.com/office/drawing/2014/main" id="{BC4C83CE-EC9B-40C4-BD7A-48797AE5B1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9A75D-9B4E-4704-98C7-2A42472F11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C6D6D-E986-427F-AD9C-4E9408DDBE53}" type="slidenum">
              <a:rPr lang="en-US" smtClean="0"/>
              <a:t>‹#›</a:t>
            </a:fld>
            <a:endParaRPr lang="en-US" dirty="0"/>
          </a:p>
        </p:txBody>
      </p:sp>
    </p:spTree>
    <p:extLst>
      <p:ext uri="{BB962C8B-B14F-4D97-AF65-F5344CB8AC3E}">
        <p14:creationId xmlns:p14="http://schemas.microsoft.com/office/powerpoint/2010/main" val="2998774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86E6E5-5A19-4AE7-8D4E-049C5315C9A0}" type="datetimeFigureOut">
              <a:rPr lang="en-US" smtClean="0"/>
              <a:t>8/31/2024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A580F-E35D-42E1-AF82-E41CC201EA91}" type="slidenum">
              <a:rPr lang="en-US" smtClean="0"/>
              <a:t>‹#›</a:t>
            </a:fld>
            <a:endParaRPr lang="en-US" dirty="0"/>
          </a:p>
        </p:txBody>
      </p:sp>
    </p:spTree>
    <p:extLst>
      <p:ext uri="{BB962C8B-B14F-4D97-AF65-F5344CB8AC3E}">
        <p14:creationId xmlns:p14="http://schemas.microsoft.com/office/powerpoint/2010/main" val="1453680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1</a:t>
            </a:fld>
            <a:endParaRPr lang="en-US" dirty="0"/>
          </a:p>
        </p:txBody>
      </p:sp>
    </p:spTree>
    <p:extLst>
      <p:ext uri="{BB962C8B-B14F-4D97-AF65-F5344CB8AC3E}">
        <p14:creationId xmlns:p14="http://schemas.microsoft.com/office/powerpoint/2010/main" val="293488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2</a:t>
            </a:fld>
            <a:endParaRPr lang="en-US" dirty="0"/>
          </a:p>
        </p:txBody>
      </p:sp>
    </p:spTree>
    <p:extLst>
      <p:ext uri="{BB962C8B-B14F-4D97-AF65-F5344CB8AC3E}">
        <p14:creationId xmlns:p14="http://schemas.microsoft.com/office/powerpoint/2010/main" val="1721535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3</a:t>
            </a:fld>
            <a:endParaRPr lang="en-US" dirty="0"/>
          </a:p>
        </p:txBody>
      </p:sp>
    </p:spTree>
    <p:extLst>
      <p:ext uri="{BB962C8B-B14F-4D97-AF65-F5344CB8AC3E}">
        <p14:creationId xmlns:p14="http://schemas.microsoft.com/office/powerpoint/2010/main" val="1550389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4</a:t>
            </a:fld>
            <a:endParaRPr lang="en-US" dirty="0"/>
          </a:p>
        </p:txBody>
      </p:sp>
    </p:spTree>
    <p:extLst>
      <p:ext uri="{BB962C8B-B14F-4D97-AF65-F5344CB8AC3E}">
        <p14:creationId xmlns:p14="http://schemas.microsoft.com/office/powerpoint/2010/main" val="754808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6</a:t>
            </a:fld>
            <a:endParaRPr lang="en-US" dirty="0"/>
          </a:p>
        </p:txBody>
      </p:sp>
    </p:spTree>
    <p:extLst>
      <p:ext uri="{BB962C8B-B14F-4D97-AF65-F5344CB8AC3E}">
        <p14:creationId xmlns:p14="http://schemas.microsoft.com/office/powerpoint/2010/main" val="186735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7</a:t>
            </a:fld>
            <a:endParaRPr lang="en-US" dirty="0"/>
          </a:p>
        </p:txBody>
      </p:sp>
    </p:spTree>
    <p:extLst>
      <p:ext uri="{BB962C8B-B14F-4D97-AF65-F5344CB8AC3E}">
        <p14:creationId xmlns:p14="http://schemas.microsoft.com/office/powerpoint/2010/main" val="3791835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8</a:t>
            </a:fld>
            <a:endParaRPr lang="en-US" dirty="0"/>
          </a:p>
        </p:txBody>
      </p:sp>
    </p:spTree>
    <p:extLst>
      <p:ext uri="{BB962C8B-B14F-4D97-AF65-F5344CB8AC3E}">
        <p14:creationId xmlns:p14="http://schemas.microsoft.com/office/powerpoint/2010/main" val="2417946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11</a:t>
            </a:fld>
            <a:endParaRPr lang="en-US" dirty="0"/>
          </a:p>
        </p:txBody>
      </p:sp>
    </p:spTree>
    <p:extLst>
      <p:ext uri="{BB962C8B-B14F-4D97-AF65-F5344CB8AC3E}">
        <p14:creationId xmlns:p14="http://schemas.microsoft.com/office/powerpoint/2010/main" val="2426169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5A580F-E35D-42E1-AF82-E41CC201EA91}" type="slidenum">
              <a:rPr lang="en-US" smtClean="0"/>
              <a:t>13</a:t>
            </a:fld>
            <a:endParaRPr lang="en-US" dirty="0"/>
          </a:p>
        </p:txBody>
      </p:sp>
    </p:spTree>
    <p:extLst>
      <p:ext uri="{BB962C8B-B14F-4D97-AF65-F5344CB8AC3E}">
        <p14:creationId xmlns:p14="http://schemas.microsoft.com/office/powerpoint/2010/main" val="3118742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450219008"/>
      </p:ext>
    </p:extLst>
  </p:cSld>
  <p:clrMapOvr>
    <a:masterClrMapping/>
  </p:clrMapOvr>
  <p:hf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745873196"/>
      </p:ext>
    </p:extLst>
  </p:cSld>
  <p:clrMapOvr>
    <a:masterClrMapping/>
  </p:clrMapOvr>
  <p:hf hdr="0" ft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98288688"/>
      </p:ext>
    </p:extLst>
  </p:cSld>
  <p:clrMapOvr>
    <a:masterClrMapping/>
  </p:clrMapOvr>
  <p:hf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5649623"/>
      </p:ext>
    </p:extLst>
  </p:cSld>
  <p:clrMapOvr>
    <a:masterClrMapping/>
  </p:clrMapOvr>
  <p:hf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87580471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84721540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253909909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4230824194"/>
      </p:ext>
    </p:extLst>
  </p:cSld>
  <p:clrMapOvr>
    <a:masterClrMapping/>
  </p:clrMapOvr>
  <p:hf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3162754729"/>
      </p:ext>
    </p:extLst>
  </p:cSld>
  <p:clrMapOvr>
    <a:masterClrMapping/>
  </p:clrMapOvr>
  <p:hf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63253305"/>
      </p:ext>
    </p:extLst>
  </p:cSld>
  <p:clrMapOvr>
    <a:masterClrMapping/>
  </p:clrMapOvr>
  <p:hf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1143217190"/>
      </p:ext>
    </p:extLst>
  </p:cSld>
  <p:clrMapOvr>
    <a:masterClrMapping/>
  </p:clrMapOvr>
  <p:hf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AE8321-5884-9E75-1272-926961F3131D}"/>
              </a:ext>
            </a:extLst>
          </p:cNvPr>
          <p:cNvSpPr>
            <a:spLocks noGrp="1"/>
          </p:cNvSpPr>
          <p:nvPr>
            <p:ph type="title" hasCustomPrompt="1"/>
          </p:nvPr>
        </p:nvSpPr>
        <p:spPr>
          <a:xfrm>
            <a:off x="685800" y="908591"/>
            <a:ext cx="4058728" cy="5225507"/>
          </a:xfrm>
        </p:spPr>
        <p:txBody>
          <a:bodyPr anchor="t">
            <a:normAutofit/>
          </a:bodyPr>
          <a:lstStyle>
            <a:lvl1pPr>
              <a:defRPr sz="3200"/>
            </a:lvl1pPr>
          </a:lstStyle>
          <a:p>
            <a:r>
              <a:rPr lang="en-US" dirty="0"/>
              <a:t>Click to add title</a:t>
            </a:r>
          </a:p>
        </p:txBody>
      </p:sp>
      <p:sp>
        <p:nvSpPr>
          <p:cNvPr id="9" name="Picture Placeholder 8">
            <a:extLst>
              <a:ext uri="{FF2B5EF4-FFF2-40B4-BE49-F238E27FC236}">
                <a16:creationId xmlns:a16="http://schemas.microsoft.com/office/drawing/2014/main" id="{B22DF521-FA73-0B43-D1F3-A28543BA84E8}"/>
              </a:ext>
            </a:extLst>
          </p:cNvPr>
          <p:cNvSpPr>
            <a:spLocks noGrp="1"/>
          </p:cNvSpPr>
          <p:nvPr>
            <p:ph type="pic" sz="quarter" idx="10" hasCustomPrompt="1"/>
          </p:nvPr>
        </p:nvSpPr>
        <p:spPr>
          <a:xfrm>
            <a:off x="5699125" y="0"/>
            <a:ext cx="5786438" cy="6134100"/>
          </a:xfrm>
        </p:spPr>
        <p:txBody>
          <a:bodyPr/>
          <a:lstStyle>
            <a:lvl1pPr marL="0" indent="0" algn="ctr">
              <a:buNone/>
              <a:defRPr/>
            </a:lvl1pPr>
          </a:lstStyle>
          <a:p>
            <a:r>
              <a:rPr lang="en-US" dirty="0"/>
              <a:t>Click icon to insert picture</a:t>
            </a:r>
          </a:p>
        </p:txBody>
      </p:sp>
      <p:sp>
        <p:nvSpPr>
          <p:cNvPr id="4" name="Slide Number Placeholder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sz="1400">
                <a:solidFill>
                  <a:schemeClr val="tx1"/>
                </a:solidFill>
              </a:defRPr>
            </a:lvl1pPr>
          </a:lstStyle>
          <a:p>
            <a:fld id="{C3DB2ADC-AF19-4574-8C10-79B5B04FCA27}" type="slidenum">
              <a:rPr lang="en-US" smtClean="0"/>
              <a:pPr/>
              <a:t>‹#›</a:t>
            </a:fld>
            <a:endParaRPr lang="en-US" dirty="0"/>
          </a:p>
        </p:txBody>
      </p:sp>
      <p:cxnSp>
        <p:nvCxnSpPr>
          <p:cNvPr id="3" name="Straight Connector 2">
            <a:extLst>
              <a:ext uri="{FF2B5EF4-FFF2-40B4-BE49-F238E27FC236}">
                <a16:creationId xmlns:a16="http://schemas.microsoft.com/office/drawing/2014/main" id="{8B32A424-7EFB-F80C-2BDA-94D103A55F77}"/>
              </a:ext>
              <a:ext uri="{C183D7F6-B498-43B3-948B-1728B52AA6E4}">
                <adec:decorative xmlns:adec="http://schemas.microsoft.com/office/drawing/2017/decorative" val="1"/>
              </a:ext>
            </a:extLst>
          </p:cNvPr>
          <p:cNvCxnSpPr>
            <a:cxnSpLocks/>
          </p:cNvCxnSpPr>
          <p:nvPr userDrawn="1"/>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8EFEEF-ABDC-22C9-C5DB-0494BEB8687D}"/>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700016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52414-3211-CEB2-31A1-11097989D435}"/>
              </a:ext>
            </a:extLst>
          </p:cNvPr>
          <p:cNvSpPr>
            <a:spLocks noGrp="1"/>
          </p:cNvSpPr>
          <p:nvPr>
            <p:ph type="title" hasCustomPrompt="1"/>
          </p:nvPr>
        </p:nvSpPr>
        <p:spPr>
          <a:xfrm>
            <a:off x="705934" y="723900"/>
            <a:ext cx="3503757" cy="5316415"/>
          </a:xfrm>
        </p:spPr>
        <p:txBody>
          <a:bodyPr>
            <a:normAutofit/>
          </a:bodyPr>
          <a:lstStyle>
            <a:lvl1pPr>
              <a:defRPr sz="3200"/>
            </a:lvl1pPr>
          </a:lstStyle>
          <a:p>
            <a:r>
              <a:rPr lang="en-US" dirty="0"/>
              <a:t>Click to add title</a:t>
            </a:r>
          </a:p>
        </p:txBody>
      </p:sp>
      <p:sp>
        <p:nvSpPr>
          <p:cNvPr id="9" name="Content Placeholder 8">
            <a:extLst>
              <a:ext uri="{FF2B5EF4-FFF2-40B4-BE49-F238E27FC236}">
                <a16:creationId xmlns:a16="http://schemas.microsoft.com/office/drawing/2014/main" id="{4BA26D20-54E1-2490-0D75-F08BCB7D3BFF}"/>
              </a:ext>
            </a:extLst>
          </p:cNvPr>
          <p:cNvSpPr>
            <a:spLocks noGrp="1"/>
          </p:cNvSpPr>
          <p:nvPr>
            <p:ph sz="quarter" idx="10" hasCustomPrompt="1"/>
          </p:nvPr>
        </p:nvSpPr>
        <p:spPr>
          <a:xfrm>
            <a:off x="5582232" y="2053087"/>
            <a:ext cx="5903332" cy="3987230"/>
          </a:xfrm>
        </p:spPr>
        <p:txBody>
          <a:bodyPr anchor="t"/>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sz="1400">
                <a:solidFill>
                  <a:schemeClr val="tx1"/>
                </a:solidFill>
              </a:defRPr>
            </a:lvl1pPr>
          </a:lstStyle>
          <a:p>
            <a:fld id="{C3DB2ADC-AF19-4574-8C10-79B5B04FCA27}" type="slidenum">
              <a:rPr lang="en-US" smtClean="0"/>
              <a:pPr/>
              <a:t>‹#›</a:t>
            </a:fld>
            <a:endParaRPr lang="en-US" dirty="0"/>
          </a:p>
        </p:txBody>
      </p:sp>
      <p:cxnSp>
        <p:nvCxnSpPr>
          <p:cNvPr id="5" name="Straight Connector 4">
            <a:extLst>
              <a:ext uri="{FF2B5EF4-FFF2-40B4-BE49-F238E27FC236}">
                <a16:creationId xmlns:a16="http://schemas.microsoft.com/office/drawing/2014/main" id="{998A376F-AF56-AABE-DFA3-DE5A8C899613}"/>
              </a:ext>
              <a:ext uri="{C183D7F6-B498-43B3-948B-1728B52AA6E4}">
                <adec:decorative xmlns:adec="http://schemas.microsoft.com/office/drawing/2017/decorative" val="1"/>
              </a:ext>
            </a:extLst>
          </p:cNvPr>
          <p:cNvCxnSpPr>
            <a:cxnSpLocks/>
          </p:cNvCxnSpPr>
          <p:nvPr userDrawn="1"/>
        </p:nvCxnSpPr>
        <p:spPr>
          <a:xfrm>
            <a:off x="5695467" y="723900"/>
            <a:ext cx="5790599"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DE9D420-BBEC-E7C6-7E76-FB9791C71C96}"/>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722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
        <p:nvSpPr>
          <p:cNvPr id="20" name="Title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10520" y="776873"/>
            <a:ext cx="5854182" cy="3070508"/>
          </a:xfrm>
          <a:prstGeom prst="rect">
            <a:avLst/>
          </a:prstGeom>
        </p:spPr>
        <p:txBody>
          <a:bodyPr anchor="b">
            <a:normAutofit/>
          </a:bodyPr>
          <a:lstStyle>
            <a:lvl1pPr>
              <a:defRPr sz="3200"/>
            </a:lvl1pPr>
          </a:lstStyle>
          <a:p>
            <a:r>
              <a:rPr lang="en-US" dirty="0"/>
              <a:t>Click to add title</a:t>
            </a:r>
          </a:p>
        </p:txBody>
      </p:sp>
      <p:sp>
        <p:nvSpPr>
          <p:cNvPr id="21" name="Subtitle 11">
            <a:extLst>
              <a:ext uri="{FF2B5EF4-FFF2-40B4-BE49-F238E27FC236}">
                <a16:creationId xmlns:a16="http://schemas.microsoft.com/office/drawing/2014/main" id="{13C3C1EB-2C5B-4710-893A-9DD6284D5CB0}"/>
              </a:ext>
            </a:extLst>
          </p:cNvPr>
          <p:cNvSpPr>
            <a:spLocks noGrp="1"/>
          </p:cNvSpPr>
          <p:nvPr>
            <p:ph type="subTitle" idx="1" hasCustomPrompt="1"/>
          </p:nvPr>
        </p:nvSpPr>
        <p:spPr>
          <a:xfrm>
            <a:off x="721202" y="4088927"/>
            <a:ext cx="5842218" cy="1880552"/>
          </a:xfrm>
          <a:prstGeom prst="rect">
            <a:avLst/>
          </a:prstGeom>
        </p:spPr>
        <p:txBody>
          <a:bodyPr>
            <a:normAutofit/>
          </a:bodyPr>
          <a:lstStyle>
            <a:lvl1pPr marL="0" indent="0">
              <a:buNone/>
              <a:defRPr sz="2000"/>
            </a:lvl1pPr>
          </a:lstStyle>
          <a:p>
            <a:r>
              <a:rPr lang="en-US" dirty="0"/>
              <a:t>Click to add subtitle</a:t>
            </a:r>
          </a:p>
        </p:txBody>
      </p:sp>
      <p:sp>
        <p:nvSpPr>
          <p:cNvPr id="30" name="Picture Placeholder 28">
            <a:extLst>
              <a:ext uri="{FF2B5EF4-FFF2-40B4-BE49-F238E27FC236}">
                <a16:creationId xmlns:a16="http://schemas.microsoft.com/office/drawing/2014/main" id="{E335E712-C7FD-4BAC-B89C-58AF6594A4E7}"/>
              </a:ext>
            </a:extLst>
          </p:cNvPr>
          <p:cNvSpPr>
            <a:spLocks noGrp="1"/>
          </p:cNvSpPr>
          <p:nvPr>
            <p:ph type="pic" sz="quarter" idx="13"/>
          </p:nvPr>
        </p:nvSpPr>
        <p:spPr>
          <a:xfrm>
            <a:off x="7315200" y="0"/>
            <a:ext cx="4876800" cy="6858000"/>
          </a:xfrm>
          <a:prstGeom prst="rect">
            <a:avLst/>
          </a:prstGeom>
        </p:spPr>
        <p:txBody>
          <a:bodyPr>
            <a:normAutofit/>
          </a:bodyPr>
          <a:lstStyle>
            <a:lvl1pPr marL="0" indent="0" algn="ctr">
              <a:buNone/>
              <a:defRPr sz="1800"/>
            </a:lvl1pPr>
          </a:lstStyle>
          <a:p>
            <a:r>
              <a:rPr lang="en-US"/>
              <a:t>Click icon to add picture</a:t>
            </a:r>
            <a:endParaRPr lang="en-US" dirty="0"/>
          </a:p>
        </p:txBody>
      </p:sp>
      <p:cxnSp>
        <p:nvCxnSpPr>
          <p:cNvPr id="3" name="Straight Connector 2">
            <a:extLst>
              <a:ext uri="{FF2B5EF4-FFF2-40B4-BE49-F238E27FC236}">
                <a16:creationId xmlns:a16="http://schemas.microsoft.com/office/drawing/2014/main" id="{A541CC69-A0B0-C1BE-2165-D8AD1B7D2DDA}"/>
              </a:ext>
              <a:ext uri="{C183D7F6-B498-43B3-948B-1728B52AA6E4}">
                <adec:decorative xmlns:adec="http://schemas.microsoft.com/office/drawing/2017/decorative" val="1"/>
              </a:ext>
            </a:extLst>
          </p:cNvPr>
          <p:cNvCxnSpPr>
            <a:cxnSpLocks/>
          </p:cNvCxnSpPr>
          <p:nvPr userDrawn="1"/>
        </p:nvCxnSpPr>
        <p:spPr>
          <a:xfrm>
            <a:off x="724574" y="723899"/>
            <a:ext cx="57867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D54A957-6A3F-2C34-A453-905FBAE77CCD}"/>
              </a:ext>
              <a:ext uri="{C183D7F6-B498-43B3-948B-1728B52AA6E4}">
                <adec:decorative xmlns:adec="http://schemas.microsoft.com/office/drawing/2017/decorative" val="1"/>
              </a:ext>
            </a:extLst>
          </p:cNvPr>
          <p:cNvCxnSpPr>
            <a:cxnSpLocks/>
          </p:cNvCxnSpPr>
          <p:nvPr userDrawn="1"/>
        </p:nvCxnSpPr>
        <p:spPr>
          <a:xfrm>
            <a:off x="724574"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18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abl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4246B94A-8C64-4FBA-B409-1F9487E19CF3}"/>
              </a:ext>
            </a:extLst>
          </p:cNvPr>
          <p:cNvSpPr>
            <a:spLocks noGrp="1"/>
          </p:cNvSpPr>
          <p:nvPr>
            <p:ph type="title" hasCustomPrompt="1"/>
          </p:nvPr>
        </p:nvSpPr>
        <p:spPr>
          <a:xfrm>
            <a:off x="734592" y="976997"/>
            <a:ext cx="11000208" cy="1239985"/>
          </a:xfrm>
          <a:prstGeom prst="rect">
            <a:avLst/>
          </a:prstGeom>
        </p:spPr>
        <p:txBody>
          <a:bodyPr anchor="t">
            <a:normAutofit/>
          </a:bodyPr>
          <a:lstStyle>
            <a:lvl1pPr>
              <a:defRPr sz="3200"/>
            </a:lvl1pPr>
          </a:lstStyle>
          <a:p>
            <a:r>
              <a:rPr lang="en-US" dirty="0"/>
              <a:t>Click to add title</a:t>
            </a:r>
          </a:p>
        </p:txBody>
      </p:sp>
      <p:sp>
        <p:nvSpPr>
          <p:cNvPr id="5" name="Content Placeholder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734592" y="2244725"/>
            <a:ext cx="7814185" cy="4233713"/>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400">
                <a:solidFill>
                  <a:schemeClr val="tx1"/>
                </a:solidFill>
              </a:defRPr>
            </a:lvl1pPr>
          </a:lstStyle>
          <a:p>
            <a:fld id="{C3DB2ADC-AF19-4574-8C10-79B5B04FCA27}" type="slidenum">
              <a:rPr lang="en-US" smtClean="0"/>
              <a:pPr/>
              <a:t>‹#›</a:t>
            </a:fld>
            <a:endParaRPr lang="en-US" dirty="0"/>
          </a:p>
        </p:txBody>
      </p:sp>
      <p:cxnSp>
        <p:nvCxnSpPr>
          <p:cNvPr id="6" name="Straight Connector 5">
            <a:extLst>
              <a:ext uri="{FF2B5EF4-FFF2-40B4-BE49-F238E27FC236}">
                <a16:creationId xmlns:a16="http://schemas.microsoft.com/office/drawing/2014/main" id="{93AC3921-F10C-2A33-F8DF-3B42EE1E382E}"/>
              </a:ext>
              <a:ext uri="{C183D7F6-B498-43B3-948B-1728B52AA6E4}">
                <adec:decorative xmlns:adec="http://schemas.microsoft.com/office/drawing/2017/decorative" val="1"/>
              </a:ext>
            </a:extLst>
          </p:cNvPr>
          <p:cNvCxnSpPr>
            <a:cxnSpLocks/>
          </p:cNvCxnSpPr>
          <p:nvPr userDrawn="1"/>
        </p:nvCxnSpPr>
        <p:spPr>
          <a:xfrm>
            <a:off x="724574" y="723899"/>
            <a:ext cx="1101022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0998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Title 2">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AE8321-5884-9E75-1272-926961F3131D}"/>
              </a:ext>
            </a:extLst>
          </p:cNvPr>
          <p:cNvSpPr>
            <a:spLocks noGrp="1"/>
          </p:cNvSpPr>
          <p:nvPr>
            <p:ph type="title" hasCustomPrompt="1"/>
          </p:nvPr>
        </p:nvSpPr>
        <p:spPr>
          <a:xfrm>
            <a:off x="763439" y="684311"/>
            <a:ext cx="4058728" cy="2749009"/>
          </a:xfrm>
        </p:spPr>
        <p:txBody>
          <a:bodyPr anchor="b">
            <a:normAutofit/>
          </a:bodyPr>
          <a:lstStyle>
            <a:lvl1pPr algn="l">
              <a:defRPr sz="3200"/>
            </a:lvl1pPr>
          </a:lstStyle>
          <a:p>
            <a:r>
              <a:rPr lang="en-US" dirty="0"/>
              <a:t>Click to add title</a:t>
            </a:r>
          </a:p>
        </p:txBody>
      </p:sp>
      <p:sp>
        <p:nvSpPr>
          <p:cNvPr id="13" name="Content Placeholder 12">
            <a:extLst>
              <a:ext uri="{FF2B5EF4-FFF2-40B4-BE49-F238E27FC236}">
                <a16:creationId xmlns:a16="http://schemas.microsoft.com/office/drawing/2014/main" id="{5EB8AC8C-DEDA-D180-1CD8-B67B47276E34}"/>
              </a:ext>
            </a:extLst>
          </p:cNvPr>
          <p:cNvSpPr>
            <a:spLocks noGrp="1"/>
          </p:cNvSpPr>
          <p:nvPr>
            <p:ph sz="quarter" idx="11" hasCustomPrompt="1"/>
          </p:nvPr>
        </p:nvSpPr>
        <p:spPr>
          <a:xfrm>
            <a:off x="757600" y="3662835"/>
            <a:ext cx="4064567" cy="2468396"/>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B22DF521-FA73-0B43-D1F3-A28543BA84E8}"/>
              </a:ext>
            </a:extLst>
          </p:cNvPr>
          <p:cNvSpPr>
            <a:spLocks noGrp="1"/>
          </p:cNvSpPr>
          <p:nvPr>
            <p:ph type="pic" sz="quarter" idx="10" hasCustomPrompt="1"/>
          </p:nvPr>
        </p:nvSpPr>
        <p:spPr>
          <a:xfrm>
            <a:off x="5707756" y="4"/>
            <a:ext cx="5786438" cy="6134100"/>
          </a:xfrm>
        </p:spPr>
        <p:txBody>
          <a:bodyPr/>
          <a:lstStyle>
            <a:lvl1pPr marL="0" indent="0" algn="ctr">
              <a:buNone/>
              <a:defRPr/>
            </a:lvl1pPr>
          </a:lstStyle>
          <a:p>
            <a:r>
              <a:rPr lang="en-US" dirty="0"/>
              <a:t>Click icon to insert picture</a:t>
            </a:r>
          </a:p>
        </p:txBody>
      </p:sp>
      <p:cxnSp>
        <p:nvCxnSpPr>
          <p:cNvPr id="5" name="Straight Connector 4">
            <a:extLst>
              <a:ext uri="{FF2B5EF4-FFF2-40B4-BE49-F238E27FC236}">
                <a16:creationId xmlns:a16="http://schemas.microsoft.com/office/drawing/2014/main" id="{9D527B4D-405A-DCD2-6970-1162843E00DD}"/>
              </a:ext>
              <a:ext uri="{C183D7F6-B498-43B3-948B-1728B52AA6E4}">
                <adec:decorative xmlns:adec="http://schemas.microsoft.com/office/drawing/2017/decorative" val="1"/>
              </a:ext>
            </a:extLst>
          </p:cNvPr>
          <p:cNvCxnSpPr>
            <a:cxnSpLocks/>
          </p:cNvCxnSpPr>
          <p:nvPr userDrawn="1"/>
        </p:nvCxnSpPr>
        <p:spPr>
          <a:xfrm>
            <a:off x="814484" y="72103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sz="1400">
                <a:solidFill>
                  <a:schemeClr val="tx1"/>
                </a:solidFill>
              </a:defRPr>
            </a:lvl1pPr>
          </a:lstStyle>
          <a:p>
            <a:fld id="{C3DB2ADC-AF19-4574-8C10-79B5B04FCA27}" type="slidenum">
              <a:rPr lang="en-US" smtClean="0"/>
              <a:pPr/>
              <a:t>‹#›</a:t>
            </a:fld>
            <a:endParaRPr lang="en-US" dirty="0"/>
          </a:p>
        </p:txBody>
      </p:sp>
      <p:cxnSp>
        <p:nvCxnSpPr>
          <p:cNvPr id="2" name="Straight Connector 1">
            <a:extLst>
              <a:ext uri="{FF2B5EF4-FFF2-40B4-BE49-F238E27FC236}">
                <a16:creationId xmlns:a16="http://schemas.microsoft.com/office/drawing/2014/main" id="{B3B79298-0F84-5214-4916-E9C0B4B46AB4}"/>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4750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4246B94A-8C64-4FBA-B409-1F9487E19CF3}"/>
              </a:ext>
            </a:extLst>
          </p:cNvPr>
          <p:cNvSpPr>
            <a:spLocks noGrp="1"/>
          </p:cNvSpPr>
          <p:nvPr>
            <p:ph type="title" hasCustomPrompt="1"/>
          </p:nvPr>
        </p:nvSpPr>
        <p:spPr>
          <a:xfrm>
            <a:off x="734591" y="976997"/>
            <a:ext cx="11000209" cy="1188227"/>
          </a:xfrm>
          <a:prstGeom prst="rect">
            <a:avLst/>
          </a:prstGeom>
        </p:spPr>
        <p:txBody>
          <a:bodyPr anchor="t">
            <a:normAutofit/>
          </a:bodyPr>
          <a:lstStyle>
            <a:lvl1pPr>
              <a:defRPr sz="3200"/>
            </a:lvl1pPr>
          </a:lstStyle>
          <a:p>
            <a:r>
              <a:rPr lang="en-US" dirty="0"/>
              <a:t>Click to add title</a:t>
            </a:r>
          </a:p>
        </p:txBody>
      </p:sp>
      <p:sp>
        <p:nvSpPr>
          <p:cNvPr id="5" name="Content Placeholder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734593" y="2244725"/>
            <a:ext cx="5045105" cy="4233713"/>
          </a:xfrm>
        </p:spPr>
        <p:txBody>
          <a:bodyPr>
            <a:normAutofit/>
          </a:bodyPr>
          <a:lstStyle>
            <a:lvl1pPr>
              <a:spcBef>
                <a:spcPts val="0"/>
              </a:spcBef>
              <a:spcAft>
                <a:spcPts val="1200"/>
              </a:spcAft>
              <a:defRPr sz="1800"/>
            </a:lvl1pPr>
            <a:lvl2pPr>
              <a:spcBef>
                <a:spcPts val="0"/>
              </a:spcBef>
              <a:spcAft>
                <a:spcPts val="1200"/>
              </a:spcAft>
              <a:defRPr sz="1600"/>
            </a:lvl2pPr>
            <a:lvl3pPr>
              <a:spcBef>
                <a:spcPts val="0"/>
              </a:spcBef>
              <a:spcAft>
                <a:spcPts val="1200"/>
              </a:spcAft>
              <a:defRPr sz="1400"/>
            </a:lvl3pPr>
            <a:lvl4pPr>
              <a:spcBef>
                <a:spcPts val="0"/>
              </a:spcBef>
              <a:spcAft>
                <a:spcPts val="1200"/>
              </a:spcAft>
              <a:defRPr sz="1200"/>
            </a:lvl4pPr>
            <a:lvl5pPr>
              <a:spcBef>
                <a:spcPts val="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93AC3921-F10C-2A33-F8DF-3B42EE1E382E}"/>
              </a:ext>
              <a:ext uri="{C183D7F6-B498-43B3-948B-1728B52AA6E4}">
                <adec:decorative xmlns:adec="http://schemas.microsoft.com/office/drawing/2017/decorative" val="1"/>
              </a:ext>
            </a:extLst>
          </p:cNvPr>
          <p:cNvCxnSpPr>
            <a:cxnSpLocks/>
          </p:cNvCxnSpPr>
          <p:nvPr userDrawn="1"/>
        </p:nvCxnSpPr>
        <p:spPr>
          <a:xfrm>
            <a:off x="724574" y="723899"/>
            <a:ext cx="1101022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A4F2998B-5567-1A45-7720-4998CC19EF0D}"/>
              </a:ext>
            </a:extLst>
          </p:cNvPr>
          <p:cNvSpPr>
            <a:spLocks noGrp="1"/>
          </p:cNvSpPr>
          <p:nvPr>
            <p:ph sz="quarter" idx="11" hasCustomPrompt="1"/>
          </p:nvPr>
        </p:nvSpPr>
        <p:spPr>
          <a:xfrm>
            <a:off x="6412304" y="2244724"/>
            <a:ext cx="5322496" cy="4233713"/>
          </a:xfrm>
        </p:spPr>
        <p:txBody>
          <a:bodyPr>
            <a:normAutofit/>
          </a:bodyPr>
          <a:lstStyle>
            <a:lvl1pPr>
              <a:spcBef>
                <a:spcPts val="0"/>
              </a:spcBef>
              <a:spcAft>
                <a:spcPts val="1200"/>
              </a:spcAft>
              <a:defRPr sz="1800"/>
            </a:lvl1pPr>
            <a:lvl2pPr>
              <a:spcBef>
                <a:spcPts val="0"/>
              </a:spcBef>
              <a:spcAft>
                <a:spcPts val="1200"/>
              </a:spcAft>
              <a:defRPr sz="1600"/>
            </a:lvl2pPr>
            <a:lvl3pPr>
              <a:spcBef>
                <a:spcPts val="0"/>
              </a:spcBef>
              <a:spcAft>
                <a:spcPts val="1200"/>
              </a:spcAft>
              <a:defRPr sz="1400"/>
            </a:lvl3pPr>
            <a:lvl4pPr>
              <a:spcBef>
                <a:spcPts val="0"/>
              </a:spcBef>
              <a:spcAft>
                <a:spcPts val="1200"/>
              </a:spcAft>
              <a:defRPr sz="1200"/>
            </a:lvl4pPr>
            <a:lvl5pPr>
              <a:spcBef>
                <a:spcPts val="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400">
                <a:solidFill>
                  <a:schemeClr val="tx1"/>
                </a:solidFill>
              </a:defRPr>
            </a:lvl1pPr>
          </a:lstStyle>
          <a:p>
            <a:fld id="{C3DB2ADC-AF19-4574-8C10-79B5B04FCA27}" type="slidenum">
              <a:rPr lang="en-US" smtClean="0"/>
              <a:pPr/>
              <a:t>‹#›</a:t>
            </a:fld>
            <a:endParaRPr lang="en-US" dirty="0"/>
          </a:p>
        </p:txBody>
      </p:sp>
    </p:spTree>
    <p:extLst>
      <p:ext uri="{BB962C8B-B14F-4D97-AF65-F5344CB8AC3E}">
        <p14:creationId xmlns:p14="http://schemas.microsoft.com/office/powerpoint/2010/main" val="562351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losing 2">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9AE8321-5884-9E75-1272-926961F3131D}"/>
              </a:ext>
            </a:extLst>
          </p:cNvPr>
          <p:cNvSpPr>
            <a:spLocks noGrp="1"/>
          </p:cNvSpPr>
          <p:nvPr>
            <p:ph type="title" hasCustomPrompt="1"/>
          </p:nvPr>
        </p:nvSpPr>
        <p:spPr>
          <a:xfrm>
            <a:off x="763439" y="684311"/>
            <a:ext cx="4058728" cy="2749009"/>
          </a:xfrm>
        </p:spPr>
        <p:txBody>
          <a:bodyPr anchor="b">
            <a:normAutofit/>
          </a:bodyPr>
          <a:lstStyle>
            <a:lvl1pPr algn="l">
              <a:defRPr sz="3200"/>
            </a:lvl1pPr>
          </a:lstStyle>
          <a:p>
            <a:r>
              <a:rPr lang="en-US" dirty="0"/>
              <a:t>Click to add title</a:t>
            </a:r>
          </a:p>
        </p:txBody>
      </p:sp>
      <p:cxnSp>
        <p:nvCxnSpPr>
          <p:cNvPr id="5" name="Straight Connector 4">
            <a:extLst>
              <a:ext uri="{FF2B5EF4-FFF2-40B4-BE49-F238E27FC236}">
                <a16:creationId xmlns:a16="http://schemas.microsoft.com/office/drawing/2014/main" id="{9D527B4D-405A-DCD2-6970-1162843E00DD}"/>
              </a:ext>
              <a:ext uri="{C183D7F6-B498-43B3-948B-1728B52AA6E4}">
                <adec:decorative xmlns:adec="http://schemas.microsoft.com/office/drawing/2017/decorative" val="1"/>
              </a:ext>
            </a:extLst>
          </p:cNvPr>
          <p:cNvCxnSpPr>
            <a:cxnSpLocks/>
          </p:cNvCxnSpPr>
          <p:nvPr userDrawn="1"/>
        </p:nvCxnSpPr>
        <p:spPr>
          <a:xfrm>
            <a:off x="814484" y="72103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B621246-77E4-43F0-CD40-C7DB9555D266}"/>
              </a:ext>
              <a:ext uri="{C183D7F6-B498-43B3-948B-1728B52AA6E4}">
                <adec:decorative xmlns:adec="http://schemas.microsoft.com/office/drawing/2017/decorative" val="1"/>
              </a:ext>
            </a:extLst>
          </p:cNvPr>
          <p:cNvCxnSpPr>
            <a:cxnSpLocks/>
          </p:cNvCxnSpPr>
          <p:nvPr userDrawn="1"/>
        </p:nvCxnSpPr>
        <p:spPr>
          <a:xfrm>
            <a:off x="5713726" y="6134059"/>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5EB8AC8C-DEDA-D180-1CD8-B67B47276E34}"/>
              </a:ext>
            </a:extLst>
          </p:cNvPr>
          <p:cNvSpPr>
            <a:spLocks noGrp="1"/>
          </p:cNvSpPr>
          <p:nvPr>
            <p:ph sz="quarter" idx="11" hasCustomPrompt="1"/>
          </p:nvPr>
        </p:nvSpPr>
        <p:spPr>
          <a:xfrm>
            <a:off x="757600" y="3662835"/>
            <a:ext cx="4064567" cy="2468396"/>
          </a:xfrm>
        </p:spPr>
        <p:txBody>
          <a:bodyPr/>
          <a:lstStyle>
            <a:lvl1pPr marL="0" indent="0">
              <a:spcBef>
                <a:spcPts val="0"/>
              </a:spcBef>
              <a:buNone/>
              <a:defRPr/>
            </a:lvl1pPr>
            <a:lvl2pPr marL="457200" indent="0">
              <a:spcBef>
                <a:spcPts val="0"/>
              </a:spcBef>
              <a:buNone/>
              <a:defRPr/>
            </a:lvl2pPr>
            <a:lvl3pPr marL="914400" indent="0">
              <a:spcBef>
                <a:spcPts val="0"/>
              </a:spcBef>
              <a:buNone/>
              <a:defRPr/>
            </a:lvl3pPr>
            <a:lvl4pPr marL="1371600" indent="0">
              <a:spcBef>
                <a:spcPts val="0"/>
              </a:spcBef>
              <a:buNone/>
              <a:defRPr/>
            </a:lvl4pPr>
            <a:lvl5pPr marL="1828800" indent="0">
              <a:spcBef>
                <a:spcPts val="0"/>
              </a:spcBef>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755953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80197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1" r:id="rId14"/>
    <p:sldLayoutId id="2147483722" r:id="rId15"/>
    <p:sldLayoutId id="2147483723" r:id="rId16"/>
    <p:sldLayoutId id="2147483724" r:id="rId17"/>
    <p:sldLayoutId id="2147483730" r:id="rId18"/>
  </p:sldLayoutIdLst>
  <p:hf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9D8326-B701-CBE8-39AA-6C700DA49CE4}"/>
              </a:ext>
            </a:extLst>
          </p:cNvPr>
          <p:cNvSpPr>
            <a:spLocks noGrp="1"/>
          </p:cNvSpPr>
          <p:nvPr>
            <p:ph type="title"/>
          </p:nvPr>
        </p:nvSpPr>
        <p:spPr/>
        <p:txBody>
          <a:bodyPr/>
          <a:lstStyle/>
          <a:p>
            <a:r>
              <a:rPr lang="en-US" dirty="0"/>
              <a:t>World Life expectancy</a:t>
            </a:r>
            <a:br>
              <a:rPr lang="en-US" dirty="0"/>
            </a:br>
            <a:br>
              <a:rPr lang="en-US" dirty="0"/>
            </a:br>
            <a:br>
              <a:rPr lang="en-US" dirty="0"/>
            </a:br>
            <a:br>
              <a:rPr lang="en-US" dirty="0"/>
            </a:br>
            <a:br>
              <a:rPr lang="en-US" dirty="0"/>
            </a:br>
            <a:br>
              <a:rPr lang="en-US" dirty="0"/>
            </a:br>
            <a:br>
              <a:rPr lang="en-US" dirty="0"/>
            </a:br>
            <a:br>
              <a:rPr lang="en-US" dirty="0"/>
            </a:br>
            <a:endParaRPr lang="en-US" dirty="0"/>
          </a:p>
        </p:txBody>
      </p:sp>
      <p:pic>
        <p:nvPicPr>
          <p:cNvPr id="8" name="Picture Placeholder 13" descr="A close-up of a pine cone">
            <a:extLst>
              <a:ext uri="{FF2B5EF4-FFF2-40B4-BE49-F238E27FC236}">
                <a16:creationId xmlns:a16="http://schemas.microsoft.com/office/drawing/2014/main" id="{975CC0D6-B1DF-FCDA-F41E-56F7EFA2D49B}"/>
              </a:ext>
            </a:extLst>
          </p:cNvPr>
          <p:cNvPicPr>
            <a:picLocks noGrp="1" noChangeAspect="1"/>
          </p:cNvPicPr>
          <p:nvPr>
            <p:ph type="pic" sz="quarter" idx="10"/>
          </p:nvPr>
        </p:nvPicPr>
        <p:blipFill rotWithShape="1">
          <a:blip r:embed="rId3"/>
          <a:srcRect t="2885" b="2885"/>
          <a:stretch/>
        </p:blipFill>
        <p:spPr/>
      </p:pic>
    </p:spTree>
    <p:extLst>
      <p:ext uri="{BB962C8B-B14F-4D97-AF65-F5344CB8AC3E}">
        <p14:creationId xmlns:p14="http://schemas.microsoft.com/office/powerpoint/2010/main" val="292228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8BEF5F-00BC-5BA7-C0E2-94A5C1FC0D29}"/>
              </a:ext>
            </a:extLst>
          </p:cNvPr>
          <p:cNvSpPr>
            <a:spLocks noGrp="1"/>
          </p:cNvSpPr>
          <p:nvPr>
            <p:ph type="title"/>
          </p:nvPr>
        </p:nvSpPr>
        <p:spPr/>
        <p:txBody>
          <a:bodyPr/>
          <a:lstStyle/>
          <a:p>
            <a:r>
              <a:rPr lang="en-US" dirty="0"/>
              <a:t>How many years will we live? </a:t>
            </a:r>
          </a:p>
        </p:txBody>
      </p:sp>
      <p:sp>
        <p:nvSpPr>
          <p:cNvPr id="4" name="Content Placeholder 3">
            <a:extLst>
              <a:ext uri="{FF2B5EF4-FFF2-40B4-BE49-F238E27FC236}">
                <a16:creationId xmlns:a16="http://schemas.microsoft.com/office/drawing/2014/main" id="{2B7243AA-A570-5533-577C-6CF74FAD07DC}"/>
              </a:ext>
            </a:extLst>
          </p:cNvPr>
          <p:cNvSpPr>
            <a:spLocks noGrp="1"/>
          </p:cNvSpPr>
          <p:nvPr>
            <p:ph sz="quarter" idx="10"/>
          </p:nvPr>
        </p:nvSpPr>
        <p:spPr>
          <a:xfrm>
            <a:off x="5582734" y="1435385"/>
            <a:ext cx="5903332" cy="3987230"/>
          </a:xfrm>
        </p:spPr>
        <p:txBody>
          <a:bodyPr>
            <a:normAutofit fontScale="85000" lnSpcReduction="10000"/>
          </a:bodyPr>
          <a:lstStyle/>
          <a:p>
            <a:r>
              <a:rPr lang="en-US" dirty="0"/>
              <a:t>This question lingers in billions of minds all day for billions of reasons. Whether its to figure out how much time we have with our loved ones or how much time we have to complete our Beany Babies collection, the very existence that we are actually on borrowed time motivates us to truly push to our purpose and make purposeful decisions. </a:t>
            </a:r>
          </a:p>
          <a:p>
            <a:r>
              <a:rPr lang="en-US" dirty="0"/>
              <a:t>This data explores life expectancy across 223 countries and 6 continents grouped and ranked by males, females and overall life expectancy. Certainly we can learn life prolonging tactics from the countries with the highest ranks of survival, right? </a:t>
            </a:r>
          </a:p>
          <a:p>
            <a:r>
              <a:rPr lang="en-US" dirty="0"/>
              <a:t>Which is exactly why our target question is “</a:t>
            </a:r>
            <a:r>
              <a:rPr lang="en-US" b="1" dirty="0"/>
              <a:t>Which continent has the highest ranks of survival?” </a:t>
            </a:r>
          </a:p>
        </p:txBody>
      </p:sp>
      <p:sp>
        <p:nvSpPr>
          <p:cNvPr id="2" name="Slide Number Placeholder 1">
            <a:extLst>
              <a:ext uri="{FF2B5EF4-FFF2-40B4-BE49-F238E27FC236}">
                <a16:creationId xmlns:a16="http://schemas.microsoft.com/office/drawing/2014/main" id="{DA128192-0728-892D-258C-A8F14C65D606}"/>
              </a:ext>
            </a:extLst>
          </p:cNvPr>
          <p:cNvSpPr>
            <a:spLocks noGrp="1"/>
          </p:cNvSpPr>
          <p:nvPr>
            <p:ph type="sldNum" sz="quarter" idx="4"/>
          </p:nvPr>
        </p:nvSpPr>
        <p:spPr/>
        <p:txBody>
          <a:bodyPr/>
          <a:lstStyle/>
          <a:p>
            <a:fld id="{C3DB2ADC-AF19-4574-8C10-79B5B04FCA27}" type="slidenum">
              <a:rPr lang="en-US" smtClean="0"/>
              <a:pPr/>
              <a:t>2</a:t>
            </a:fld>
            <a:endParaRPr lang="en-US" dirty="0"/>
          </a:p>
        </p:txBody>
      </p:sp>
      <p:pic>
        <p:nvPicPr>
          <p:cNvPr id="5" name="Picture 4">
            <a:extLst>
              <a:ext uri="{FF2B5EF4-FFF2-40B4-BE49-F238E27FC236}">
                <a16:creationId xmlns:a16="http://schemas.microsoft.com/office/drawing/2014/main" id="{03FC1F44-6817-19A5-1EFF-F6ED1B3D5445}"/>
              </a:ext>
            </a:extLst>
          </p:cNvPr>
          <p:cNvPicPr>
            <a:picLocks noChangeAspect="1"/>
          </p:cNvPicPr>
          <p:nvPr/>
        </p:nvPicPr>
        <p:blipFill>
          <a:blip r:embed="rId3"/>
          <a:stretch>
            <a:fillRect/>
          </a:stretch>
        </p:blipFill>
        <p:spPr>
          <a:xfrm>
            <a:off x="705934" y="2133601"/>
            <a:ext cx="4876799" cy="1786467"/>
          </a:xfrm>
          <a:prstGeom prst="rect">
            <a:avLst/>
          </a:prstGeom>
        </p:spPr>
      </p:pic>
    </p:spTree>
    <p:extLst>
      <p:ext uri="{BB962C8B-B14F-4D97-AF65-F5344CB8AC3E}">
        <p14:creationId xmlns:p14="http://schemas.microsoft.com/office/powerpoint/2010/main" val="918817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BF5439E-A994-3EE5-80B8-64D8C5A922E8}"/>
              </a:ext>
            </a:extLst>
          </p:cNvPr>
          <p:cNvSpPr>
            <a:spLocks noGrp="1"/>
          </p:cNvSpPr>
          <p:nvPr>
            <p:ph type="ctrTitle"/>
          </p:nvPr>
        </p:nvSpPr>
        <p:spPr>
          <a:xfrm>
            <a:off x="710520" y="776873"/>
            <a:ext cx="5854182" cy="2313460"/>
          </a:xfrm>
        </p:spPr>
        <p:txBody>
          <a:bodyPr/>
          <a:lstStyle/>
          <a:p>
            <a:r>
              <a:rPr lang="en-US" dirty="0" err="1"/>
              <a:t>INformation</a:t>
            </a:r>
            <a:r>
              <a:rPr lang="en-US" dirty="0"/>
              <a:t> overview</a:t>
            </a:r>
          </a:p>
        </p:txBody>
      </p:sp>
      <p:sp>
        <p:nvSpPr>
          <p:cNvPr id="23" name="Subtitle 22">
            <a:extLst>
              <a:ext uri="{FF2B5EF4-FFF2-40B4-BE49-F238E27FC236}">
                <a16:creationId xmlns:a16="http://schemas.microsoft.com/office/drawing/2014/main" id="{D5FF0C52-0A5C-D2E2-6605-0DCC0E0DCE6C}"/>
              </a:ext>
            </a:extLst>
          </p:cNvPr>
          <p:cNvSpPr>
            <a:spLocks noGrp="1"/>
          </p:cNvSpPr>
          <p:nvPr>
            <p:ph type="subTitle" idx="1"/>
          </p:nvPr>
        </p:nvSpPr>
        <p:spPr/>
        <p:txBody>
          <a:bodyPr/>
          <a:lstStyle/>
          <a:p>
            <a:r>
              <a:rPr lang="en-US" dirty="0"/>
              <a:t>Let’s take a look at the data, make sure its clean enough to properly analyze and insure the features that we have are viable to our target question. </a:t>
            </a:r>
          </a:p>
        </p:txBody>
      </p:sp>
      <p:pic>
        <p:nvPicPr>
          <p:cNvPr id="8" name="Picture Placeholder 12" descr="A dog sitting in the sun rays coming through the trees in a forest ">
            <a:extLst>
              <a:ext uri="{FF2B5EF4-FFF2-40B4-BE49-F238E27FC236}">
                <a16:creationId xmlns:a16="http://schemas.microsoft.com/office/drawing/2014/main" id="{D97472DC-8A80-1368-489B-875AC64FA5D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6989" r="6989"/>
          <a:stretch/>
        </p:blipFill>
        <p:spPr/>
      </p:pic>
    </p:spTree>
    <p:extLst>
      <p:ext uri="{BB962C8B-B14F-4D97-AF65-F5344CB8AC3E}">
        <p14:creationId xmlns:p14="http://schemas.microsoft.com/office/powerpoint/2010/main" val="188956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C19A-30E3-001C-1A19-8812A6F8D8EC}"/>
              </a:ext>
            </a:extLst>
          </p:cNvPr>
          <p:cNvSpPr>
            <a:spLocks noGrp="1"/>
          </p:cNvSpPr>
          <p:nvPr>
            <p:ph type="title"/>
          </p:nvPr>
        </p:nvSpPr>
        <p:spPr/>
        <p:txBody>
          <a:bodyPr>
            <a:normAutofit fontScale="90000"/>
          </a:bodyPr>
          <a:lstStyle/>
          <a:p>
            <a:r>
              <a:rPr lang="en-US"/>
              <a:t>Data Cleaning and Feature Engineering</a:t>
            </a:r>
            <a:endParaRPr lang="en-US" dirty="0"/>
          </a:p>
        </p:txBody>
      </p:sp>
      <p:graphicFrame>
        <p:nvGraphicFramePr>
          <p:cNvPr id="10" name="Content Placeholder 9">
            <a:extLst>
              <a:ext uri="{FF2B5EF4-FFF2-40B4-BE49-F238E27FC236}">
                <a16:creationId xmlns:a16="http://schemas.microsoft.com/office/drawing/2014/main" id="{E6C36937-892E-5DCA-766F-07B28C792961}"/>
              </a:ext>
            </a:extLst>
          </p:cNvPr>
          <p:cNvGraphicFramePr>
            <a:graphicFrameLocks noGrp="1"/>
          </p:cNvGraphicFramePr>
          <p:nvPr>
            <p:ph idx="1"/>
            <p:extLst>
              <p:ext uri="{D42A27DB-BD31-4B8C-83A1-F6EECF244321}">
                <p14:modId xmlns:p14="http://schemas.microsoft.com/office/powerpoint/2010/main" val="4149994219"/>
              </p:ext>
            </p:extLst>
          </p:nvPr>
        </p:nvGraphicFramePr>
        <p:xfrm>
          <a:off x="4912252" y="2183030"/>
          <a:ext cx="1854922" cy="1613526"/>
        </p:xfrm>
        <a:graphic>
          <a:graphicData uri="http://schemas.openxmlformats.org/drawingml/2006/table">
            <a:tbl>
              <a:tblPr/>
              <a:tblGrid>
                <a:gridCol w="927461">
                  <a:extLst>
                    <a:ext uri="{9D8B030D-6E8A-4147-A177-3AD203B41FA5}">
                      <a16:colId xmlns:a16="http://schemas.microsoft.com/office/drawing/2014/main" val="3696693453"/>
                    </a:ext>
                  </a:extLst>
                </a:gridCol>
                <a:gridCol w="927461">
                  <a:extLst>
                    <a:ext uri="{9D8B030D-6E8A-4147-A177-3AD203B41FA5}">
                      <a16:colId xmlns:a16="http://schemas.microsoft.com/office/drawing/2014/main" val="438249028"/>
                    </a:ext>
                  </a:extLst>
                </a:gridCol>
              </a:tblGrid>
              <a:tr h="220708">
                <a:tc>
                  <a:txBody>
                    <a:bodyPr/>
                    <a:lstStyle/>
                    <a:p>
                      <a:pPr algn="l" fontAlgn="ctr"/>
                      <a:r>
                        <a:rPr lang="en-US" sz="1000" b="1" dirty="0">
                          <a:effectLst/>
                        </a:rPr>
                        <a:t>Null Analysis</a:t>
                      </a:r>
                    </a:p>
                    <a:p>
                      <a:pPr fontAlgn="ctr"/>
                      <a:endParaRPr lang="en-US" sz="1000" b="1" dirty="0">
                        <a:effectLst/>
                      </a:endParaRPr>
                    </a:p>
                    <a:p>
                      <a:pPr fontAlgn="ctr"/>
                      <a:r>
                        <a:rPr lang="en-US" sz="1000" b="1" dirty="0">
                          <a:effectLst/>
                        </a:rPr>
                        <a:t>Rank</a:t>
                      </a:r>
                    </a:p>
                  </a:txBody>
                  <a:tcPr marL="52787" marR="52787" marT="26393" marB="26393" anchor="ctr">
                    <a:lnL>
                      <a:noFill/>
                    </a:lnL>
                    <a:lnR>
                      <a:noFill/>
                    </a:lnR>
                    <a:lnT>
                      <a:noFill/>
                    </a:lnT>
                    <a:lnB>
                      <a:noFill/>
                    </a:lnB>
                    <a:solidFill>
                      <a:srgbClr val="FFFFFF"/>
                    </a:solidFill>
                  </a:tcPr>
                </a:tc>
                <a:tc>
                  <a:txBody>
                    <a:bodyPr/>
                    <a:lstStyle/>
                    <a:p>
                      <a:pPr algn="r"/>
                      <a:endParaRPr lang="en-US" sz="1000" dirty="0">
                        <a:effectLst/>
                      </a:endParaRP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1856389323"/>
                  </a:ext>
                </a:extLst>
              </a:tr>
              <a:tr h="220708">
                <a:tc>
                  <a:txBody>
                    <a:bodyPr/>
                    <a:lstStyle/>
                    <a:p>
                      <a:pPr fontAlgn="ctr"/>
                      <a:r>
                        <a:rPr lang="en-US" sz="1000" b="1" dirty="0">
                          <a:effectLst/>
                        </a:rPr>
                        <a:t>Country</a:t>
                      </a:r>
                    </a:p>
                  </a:txBody>
                  <a:tcPr marL="52787" marR="52787" marT="26393" marB="26393" anchor="ctr">
                    <a:lnL>
                      <a:noFill/>
                    </a:lnL>
                    <a:lnR>
                      <a:noFill/>
                    </a:lnR>
                    <a:lnT>
                      <a:noFill/>
                    </a:lnT>
                    <a:lnB>
                      <a:noFill/>
                    </a:lnB>
                    <a:solidFill>
                      <a:srgbClr val="FFFFFF"/>
                    </a:solidFill>
                  </a:tcPr>
                </a:tc>
                <a:tc>
                  <a:txBody>
                    <a:bodyPr/>
                    <a:lstStyle/>
                    <a:p>
                      <a:pPr algn="r"/>
                      <a:r>
                        <a:rPr lang="en-US" sz="1000">
                          <a:effectLst/>
                        </a:rPr>
                        <a:t>0</a:t>
                      </a: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2051364246"/>
                  </a:ext>
                </a:extLst>
              </a:tr>
              <a:tr h="220708">
                <a:tc>
                  <a:txBody>
                    <a:bodyPr/>
                    <a:lstStyle/>
                    <a:p>
                      <a:pPr fontAlgn="ctr"/>
                      <a:r>
                        <a:rPr lang="en-US" sz="1000" b="1" dirty="0">
                          <a:effectLst/>
                        </a:rPr>
                        <a:t>Overall Life</a:t>
                      </a:r>
                    </a:p>
                  </a:txBody>
                  <a:tcPr marL="52787" marR="52787" marT="26393" marB="26393" anchor="ctr">
                    <a:lnL>
                      <a:noFill/>
                    </a:lnL>
                    <a:lnR>
                      <a:noFill/>
                    </a:lnR>
                    <a:lnT>
                      <a:noFill/>
                    </a:lnT>
                    <a:lnB>
                      <a:noFill/>
                    </a:lnB>
                    <a:solidFill>
                      <a:srgbClr val="FFFFFF"/>
                    </a:solidFill>
                  </a:tcPr>
                </a:tc>
                <a:tc>
                  <a:txBody>
                    <a:bodyPr/>
                    <a:lstStyle/>
                    <a:p>
                      <a:pPr algn="r"/>
                      <a:r>
                        <a:rPr lang="en-US" sz="1000" dirty="0">
                          <a:effectLst/>
                        </a:rPr>
                        <a:t>0</a:t>
                      </a: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2384039655"/>
                  </a:ext>
                </a:extLst>
              </a:tr>
              <a:tr h="220708">
                <a:tc>
                  <a:txBody>
                    <a:bodyPr/>
                    <a:lstStyle/>
                    <a:p>
                      <a:pPr fontAlgn="ctr"/>
                      <a:r>
                        <a:rPr lang="en-US" sz="1000" b="1" dirty="0">
                          <a:effectLst/>
                        </a:rPr>
                        <a:t>Male Life</a:t>
                      </a:r>
                    </a:p>
                  </a:txBody>
                  <a:tcPr marL="52787" marR="52787" marT="26393" marB="26393" anchor="ctr">
                    <a:lnL>
                      <a:noFill/>
                    </a:lnL>
                    <a:lnR>
                      <a:noFill/>
                    </a:lnR>
                    <a:lnT>
                      <a:noFill/>
                    </a:lnT>
                    <a:lnB>
                      <a:noFill/>
                    </a:lnB>
                    <a:solidFill>
                      <a:srgbClr val="FFFFFF"/>
                    </a:solidFill>
                  </a:tcPr>
                </a:tc>
                <a:tc>
                  <a:txBody>
                    <a:bodyPr/>
                    <a:lstStyle/>
                    <a:p>
                      <a:pPr algn="r"/>
                      <a:r>
                        <a:rPr lang="en-US" sz="1000">
                          <a:effectLst/>
                        </a:rPr>
                        <a:t>0</a:t>
                      </a: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759405902"/>
                  </a:ext>
                </a:extLst>
              </a:tr>
              <a:tr h="220708">
                <a:tc>
                  <a:txBody>
                    <a:bodyPr/>
                    <a:lstStyle/>
                    <a:p>
                      <a:pPr fontAlgn="ctr"/>
                      <a:r>
                        <a:rPr lang="en-US" sz="1000" b="1">
                          <a:effectLst/>
                        </a:rPr>
                        <a:t>Female Life</a:t>
                      </a:r>
                    </a:p>
                  </a:txBody>
                  <a:tcPr marL="52787" marR="52787" marT="26393" marB="26393" anchor="ctr">
                    <a:lnL>
                      <a:noFill/>
                    </a:lnL>
                    <a:lnR>
                      <a:noFill/>
                    </a:lnR>
                    <a:lnT>
                      <a:noFill/>
                    </a:lnT>
                    <a:lnB>
                      <a:noFill/>
                    </a:lnB>
                    <a:solidFill>
                      <a:srgbClr val="FFFFFF"/>
                    </a:solidFill>
                  </a:tcPr>
                </a:tc>
                <a:tc>
                  <a:txBody>
                    <a:bodyPr/>
                    <a:lstStyle/>
                    <a:p>
                      <a:pPr algn="r"/>
                      <a:r>
                        <a:rPr lang="en-US" sz="1000">
                          <a:effectLst/>
                        </a:rPr>
                        <a:t>0</a:t>
                      </a: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2520199603"/>
                  </a:ext>
                </a:extLst>
              </a:tr>
              <a:tr h="220708">
                <a:tc>
                  <a:txBody>
                    <a:bodyPr/>
                    <a:lstStyle/>
                    <a:p>
                      <a:pPr fontAlgn="ctr"/>
                      <a:r>
                        <a:rPr lang="en-US" sz="1000" b="1">
                          <a:effectLst/>
                        </a:rPr>
                        <a:t>Continent</a:t>
                      </a:r>
                    </a:p>
                  </a:txBody>
                  <a:tcPr marL="52787" marR="52787" marT="26393" marB="26393" anchor="ctr">
                    <a:lnL>
                      <a:noFill/>
                    </a:lnL>
                    <a:lnR>
                      <a:noFill/>
                    </a:lnR>
                    <a:lnT>
                      <a:noFill/>
                    </a:lnT>
                    <a:lnB>
                      <a:noFill/>
                    </a:lnB>
                    <a:solidFill>
                      <a:srgbClr val="FFFFFF"/>
                    </a:solidFill>
                  </a:tcPr>
                </a:tc>
                <a:tc>
                  <a:txBody>
                    <a:bodyPr/>
                    <a:lstStyle/>
                    <a:p>
                      <a:pPr algn="r"/>
                      <a:r>
                        <a:rPr lang="en-US" sz="1000" dirty="0">
                          <a:effectLst/>
                        </a:rPr>
                        <a:t>0</a:t>
                      </a:r>
                    </a:p>
                  </a:txBody>
                  <a:tcPr marL="52787" marR="52787" marT="26393" marB="26393" anchor="ctr">
                    <a:lnL>
                      <a:noFill/>
                    </a:lnL>
                    <a:lnR>
                      <a:noFill/>
                    </a:lnR>
                    <a:lnT>
                      <a:noFill/>
                    </a:lnT>
                    <a:lnB>
                      <a:noFill/>
                    </a:lnB>
                    <a:solidFill>
                      <a:srgbClr val="FFFFFF"/>
                    </a:solidFill>
                  </a:tcPr>
                </a:tc>
                <a:extLst>
                  <a:ext uri="{0D108BD9-81ED-4DB2-BD59-A6C34878D82A}">
                    <a16:rowId xmlns:a16="http://schemas.microsoft.com/office/drawing/2014/main" val="3630062664"/>
                  </a:ext>
                </a:extLst>
              </a:tr>
            </a:tbl>
          </a:graphicData>
        </a:graphic>
      </p:graphicFrame>
      <p:sp>
        <p:nvSpPr>
          <p:cNvPr id="9" name="Text Placeholder 8">
            <a:extLst>
              <a:ext uri="{FF2B5EF4-FFF2-40B4-BE49-F238E27FC236}">
                <a16:creationId xmlns:a16="http://schemas.microsoft.com/office/drawing/2014/main" id="{762AA449-8ECF-2FAC-4577-8855B70B6C14}"/>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We made sure there were no missing values, outliers or duplicates inside the data. </a:t>
            </a:r>
          </a:p>
          <a:p>
            <a:pPr marL="285750" indent="-285750">
              <a:buFont typeface="Arial" panose="020B0604020202020204" pitchFamily="34" charset="0"/>
              <a:buChar char="•"/>
            </a:pPr>
            <a:r>
              <a:rPr lang="en-US" dirty="0"/>
              <a:t>Overall the data is quite clean and by also taking a look at the correlation calculation, Overall Life is mostly related with Male Life and Female Life and can conclude as using this as a feature. </a:t>
            </a:r>
          </a:p>
        </p:txBody>
      </p:sp>
      <p:sp>
        <p:nvSpPr>
          <p:cNvPr id="3" name="Slide Number Placeholder 2">
            <a:extLst>
              <a:ext uri="{FF2B5EF4-FFF2-40B4-BE49-F238E27FC236}">
                <a16:creationId xmlns:a16="http://schemas.microsoft.com/office/drawing/2014/main" id="{CE941DE2-1E04-BCDD-5770-8991998B6B7B}"/>
              </a:ext>
            </a:extLst>
          </p:cNvPr>
          <p:cNvSpPr>
            <a:spLocks noGrp="1"/>
          </p:cNvSpPr>
          <p:nvPr>
            <p:ph type="sldNum" sz="quarter" idx="12"/>
          </p:nvPr>
        </p:nvSpPr>
        <p:spPr/>
        <p:txBody>
          <a:bodyPr/>
          <a:lstStyle/>
          <a:p>
            <a:fld id="{C3DB2ADC-AF19-4574-8C10-79B5B04FCA27}" type="slidenum">
              <a:rPr lang="en-US" smtClean="0"/>
              <a:pPr/>
              <a:t>4</a:t>
            </a:fld>
            <a:endParaRPr lang="en-US" dirty="0"/>
          </a:p>
        </p:txBody>
      </p:sp>
      <p:sp>
        <p:nvSpPr>
          <p:cNvPr id="13" name="TextBox 12">
            <a:extLst>
              <a:ext uri="{FF2B5EF4-FFF2-40B4-BE49-F238E27FC236}">
                <a16:creationId xmlns:a16="http://schemas.microsoft.com/office/drawing/2014/main" id="{C4D8E363-2815-561C-DA05-551C51DCB867}"/>
              </a:ext>
            </a:extLst>
          </p:cNvPr>
          <p:cNvSpPr txBox="1"/>
          <p:nvPr/>
        </p:nvSpPr>
        <p:spPr>
          <a:xfrm>
            <a:off x="4912252" y="3868207"/>
            <a:ext cx="6663767" cy="1754326"/>
          </a:xfrm>
          <a:prstGeom prst="rect">
            <a:avLst/>
          </a:prstGeom>
          <a:noFill/>
        </p:spPr>
        <p:txBody>
          <a:bodyPr wrap="square">
            <a:spAutoFit/>
          </a:bodyPr>
          <a:lstStyle/>
          <a:p>
            <a:r>
              <a:rPr lang="en-US" dirty="0"/>
              <a:t>		</a:t>
            </a:r>
            <a:r>
              <a:rPr lang="en-US" b="1" u="sng" dirty="0"/>
              <a:t>Correlation Matrix                       </a:t>
            </a:r>
          </a:p>
          <a:p>
            <a:r>
              <a:rPr lang="en-US" dirty="0"/>
              <a:t>	       Rank        Overall Life    Male Life   Female Life</a:t>
            </a:r>
          </a:p>
          <a:p>
            <a:r>
              <a:rPr lang="en-US" dirty="0"/>
              <a:t>Rank             1.000000     -0.947263    -0.952202    -0.932723</a:t>
            </a:r>
          </a:p>
          <a:p>
            <a:r>
              <a:rPr lang="en-US" dirty="0"/>
              <a:t>Overall Life  -0.947263     1.000000     0.993517     0.993615</a:t>
            </a:r>
          </a:p>
          <a:p>
            <a:r>
              <a:rPr lang="en-US" dirty="0"/>
              <a:t>Male Life     -0.952202      0.993517   1.000000       0.976694</a:t>
            </a:r>
          </a:p>
          <a:p>
            <a:r>
              <a:rPr lang="en-US" dirty="0"/>
              <a:t>Female Life  -0.932723     0.993615   0.976694       1.000000</a:t>
            </a:r>
          </a:p>
        </p:txBody>
      </p:sp>
    </p:spTree>
    <p:extLst>
      <p:ext uri="{BB962C8B-B14F-4D97-AF65-F5344CB8AC3E}">
        <p14:creationId xmlns:p14="http://schemas.microsoft.com/office/powerpoint/2010/main" val="155330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F66C-BED5-4EBC-D3DA-D1158E2926F3}"/>
              </a:ext>
            </a:extLst>
          </p:cNvPr>
          <p:cNvSpPr>
            <a:spLocks noGrp="1"/>
          </p:cNvSpPr>
          <p:nvPr>
            <p:ph type="title"/>
          </p:nvPr>
        </p:nvSpPr>
        <p:spPr/>
        <p:txBody>
          <a:bodyPr>
            <a:normAutofit fontScale="90000"/>
          </a:bodyPr>
          <a:lstStyle/>
          <a:p>
            <a:r>
              <a:rPr lang="en-US" dirty="0"/>
              <a:t>Normally Distributed Enough?</a:t>
            </a:r>
          </a:p>
        </p:txBody>
      </p:sp>
      <p:sp>
        <p:nvSpPr>
          <p:cNvPr id="4" name="Text Placeholder 3">
            <a:extLst>
              <a:ext uri="{FF2B5EF4-FFF2-40B4-BE49-F238E27FC236}">
                <a16:creationId xmlns:a16="http://schemas.microsoft.com/office/drawing/2014/main" id="{C7B525DF-CDCC-CCE0-C85B-486E652F3CFA}"/>
              </a:ext>
            </a:extLst>
          </p:cNvPr>
          <p:cNvSpPr>
            <a:spLocks noGrp="1"/>
          </p:cNvSpPr>
          <p:nvPr>
            <p:ph type="body" sz="half" idx="2"/>
          </p:nvPr>
        </p:nvSpPr>
        <p:spPr/>
        <p:txBody>
          <a:bodyPr/>
          <a:lstStyle/>
          <a:p>
            <a:r>
              <a:rPr lang="en-US" dirty="0"/>
              <a:t>From looking at the plots, Overall Life and Female Life have normal bell curves that show relevancy. We also know that the Continent is part of the important features. However, Female Life is closest to correlation with Overall Life instead of Male Life, so Female Life will be a secondary relevant feature also. Concluding, Overall Life and the Continent will be the features used to get to the target variable.</a:t>
            </a:r>
          </a:p>
        </p:txBody>
      </p:sp>
      <p:sp>
        <p:nvSpPr>
          <p:cNvPr id="5" name="Slide Number Placeholder 4">
            <a:extLst>
              <a:ext uri="{FF2B5EF4-FFF2-40B4-BE49-F238E27FC236}">
                <a16:creationId xmlns:a16="http://schemas.microsoft.com/office/drawing/2014/main" id="{B5A27C0F-9B86-FCC0-AB7D-89AF35BCA7A3}"/>
              </a:ext>
            </a:extLst>
          </p:cNvPr>
          <p:cNvSpPr>
            <a:spLocks noGrp="1"/>
          </p:cNvSpPr>
          <p:nvPr>
            <p:ph type="sldNum" sz="quarter" idx="12"/>
          </p:nvPr>
        </p:nvSpPr>
        <p:spPr/>
        <p:txBody>
          <a:bodyPr/>
          <a:lstStyle/>
          <a:p>
            <a:fld id="{C3DB2ADC-AF19-4574-8C10-79B5B04FCA27}" type="slidenum">
              <a:rPr lang="en-US" smtClean="0"/>
              <a:pPr/>
              <a:t>5</a:t>
            </a:fld>
            <a:endParaRPr lang="en-US" dirty="0"/>
          </a:p>
        </p:txBody>
      </p:sp>
      <p:pic>
        <p:nvPicPr>
          <p:cNvPr id="1026" name="Picture 2">
            <a:extLst>
              <a:ext uri="{FF2B5EF4-FFF2-40B4-BE49-F238E27FC236}">
                <a16:creationId xmlns:a16="http://schemas.microsoft.com/office/drawing/2014/main" id="{34C24382-7FFF-4452-4599-0CC4D51EAC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96225" y="920412"/>
            <a:ext cx="3487532" cy="27938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DA2774E-50D5-D326-1368-7E5E9A8B9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9467" y="920412"/>
            <a:ext cx="3431183" cy="28624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FD68FB0-F61F-4A60-FD38-B73416AA3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93" y="3678081"/>
            <a:ext cx="3487531" cy="26782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EA0C71E-00DC-29BD-FDEE-B28E86047C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3589" y="3631071"/>
            <a:ext cx="3266725" cy="2616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131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82A33-7ED3-A4A3-7E06-B568D6D134CD}"/>
              </a:ext>
            </a:extLst>
          </p:cNvPr>
          <p:cNvSpPr>
            <a:spLocks noGrp="1"/>
          </p:cNvSpPr>
          <p:nvPr>
            <p:ph type="title"/>
          </p:nvPr>
        </p:nvSpPr>
        <p:spPr/>
        <p:txBody>
          <a:bodyPr/>
          <a:lstStyle/>
          <a:p>
            <a:r>
              <a:rPr lang="en-US" dirty="0"/>
              <a:t>Which Classifying model works  best for the target? </a:t>
            </a:r>
          </a:p>
        </p:txBody>
      </p:sp>
      <p:sp>
        <p:nvSpPr>
          <p:cNvPr id="9" name="Content Placeholder 8">
            <a:extLst>
              <a:ext uri="{FF2B5EF4-FFF2-40B4-BE49-F238E27FC236}">
                <a16:creationId xmlns:a16="http://schemas.microsoft.com/office/drawing/2014/main" id="{6777958E-E73E-C5A9-C0E3-3DD9808453DB}"/>
              </a:ext>
            </a:extLst>
          </p:cNvPr>
          <p:cNvSpPr>
            <a:spLocks noGrp="1"/>
          </p:cNvSpPr>
          <p:nvPr>
            <p:ph sz="quarter" idx="11"/>
          </p:nvPr>
        </p:nvSpPr>
        <p:spPr/>
        <p:txBody>
          <a:bodyPr/>
          <a:lstStyle/>
          <a:p>
            <a:pPr algn="ctr"/>
            <a:r>
              <a:rPr lang="en-US" noProof="1"/>
              <a:t>Which continent has the most countries with the highest ranks of survival? </a:t>
            </a:r>
          </a:p>
        </p:txBody>
      </p:sp>
      <p:pic>
        <p:nvPicPr>
          <p:cNvPr id="14" name="Picture Placeholder 33" descr="A river with boats in it surrounded by trees">
            <a:extLst>
              <a:ext uri="{FF2B5EF4-FFF2-40B4-BE49-F238E27FC236}">
                <a16:creationId xmlns:a16="http://schemas.microsoft.com/office/drawing/2014/main" id="{C87A0E87-E987-D779-B17A-3A89F2E6F373}"/>
              </a:ext>
            </a:extLst>
          </p:cNvPr>
          <p:cNvPicPr>
            <a:picLocks noGrp="1" noChangeAspect="1"/>
          </p:cNvPicPr>
          <p:nvPr>
            <p:ph type="pic" sz="quarter" idx="10"/>
          </p:nvPr>
        </p:nvPicPr>
        <p:blipFill>
          <a:blip r:embed="rId3"/>
          <a:srcRect l="18580" r="18580"/>
          <a:stretch/>
        </p:blipFill>
        <p:spPr/>
      </p:pic>
    </p:spTree>
    <p:extLst>
      <p:ext uri="{BB962C8B-B14F-4D97-AF65-F5344CB8AC3E}">
        <p14:creationId xmlns:p14="http://schemas.microsoft.com/office/powerpoint/2010/main" val="209861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FE95-42FD-9AB0-913D-DFE3A18AFAE9}"/>
              </a:ext>
            </a:extLst>
          </p:cNvPr>
          <p:cNvSpPr>
            <a:spLocks noGrp="1"/>
          </p:cNvSpPr>
          <p:nvPr>
            <p:ph type="title"/>
          </p:nvPr>
        </p:nvSpPr>
        <p:spPr>
          <a:xfrm>
            <a:off x="734591" y="976997"/>
            <a:ext cx="11034713" cy="1188227"/>
          </a:xfrm>
        </p:spPr>
        <p:txBody>
          <a:bodyPr/>
          <a:lstStyle/>
          <a:p>
            <a:r>
              <a:rPr lang="en-US" dirty="0" err="1"/>
              <a:t>Knn</a:t>
            </a:r>
            <a:r>
              <a:rPr lang="en-US" dirty="0"/>
              <a:t> classification</a:t>
            </a:r>
          </a:p>
        </p:txBody>
      </p:sp>
      <p:sp>
        <p:nvSpPr>
          <p:cNvPr id="3" name="Slide Number Placeholder 2">
            <a:extLst>
              <a:ext uri="{FF2B5EF4-FFF2-40B4-BE49-F238E27FC236}">
                <a16:creationId xmlns:a16="http://schemas.microsoft.com/office/drawing/2014/main" id="{DCBC99EE-15DF-A164-D7A5-05B6D09C808B}"/>
              </a:ext>
            </a:extLst>
          </p:cNvPr>
          <p:cNvSpPr>
            <a:spLocks noGrp="1"/>
          </p:cNvSpPr>
          <p:nvPr>
            <p:ph type="sldNum" sz="quarter" idx="4"/>
          </p:nvPr>
        </p:nvSpPr>
        <p:spPr/>
        <p:txBody>
          <a:bodyPr/>
          <a:lstStyle/>
          <a:p>
            <a:fld id="{C3DB2ADC-AF19-4574-8C10-79B5B04FCA27}" type="slidenum">
              <a:rPr lang="en-US" smtClean="0"/>
              <a:pPr/>
              <a:t>7</a:t>
            </a:fld>
            <a:endParaRPr lang="en-US" dirty="0"/>
          </a:p>
        </p:txBody>
      </p:sp>
      <p:graphicFrame>
        <p:nvGraphicFramePr>
          <p:cNvPr id="20" name="Table 20">
            <a:extLst>
              <a:ext uri="{FF2B5EF4-FFF2-40B4-BE49-F238E27FC236}">
                <a16:creationId xmlns:a16="http://schemas.microsoft.com/office/drawing/2014/main" id="{39055AEC-FD98-E2B4-8844-59B596A54AB2}"/>
              </a:ext>
            </a:extLst>
          </p:cNvPr>
          <p:cNvGraphicFramePr>
            <a:graphicFrameLocks noGrp="1"/>
          </p:cNvGraphicFramePr>
          <p:nvPr>
            <p:ph sz="quarter" idx="10"/>
            <p:extLst>
              <p:ext uri="{D42A27DB-BD31-4B8C-83A1-F6EECF244321}">
                <p14:modId xmlns:p14="http://schemas.microsoft.com/office/powerpoint/2010/main" val="1614964734"/>
              </p:ext>
            </p:extLst>
          </p:nvPr>
        </p:nvGraphicFramePr>
        <p:xfrm>
          <a:off x="5175143" y="976997"/>
          <a:ext cx="5856923" cy="4501196"/>
        </p:xfrm>
        <a:graphic>
          <a:graphicData uri="http://schemas.openxmlformats.org/drawingml/2006/table">
            <a:tbl>
              <a:tblPr firstRow="1" bandRow="1">
                <a:tableStyleId>{C083E6E3-FA7D-4D7B-A595-EF9225AFEA82}</a:tableStyleId>
              </a:tblPr>
              <a:tblGrid>
                <a:gridCol w="1331060">
                  <a:extLst>
                    <a:ext uri="{9D8B030D-6E8A-4147-A177-3AD203B41FA5}">
                      <a16:colId xmlns:a16="http://schemas.microsoft.com/office/drawing/2014/main" val="4070928879"/>
                    </a:ext>
                  </a:extLst>
                </a:gridCol>
                <a:gridCol w="1183541">
                  <a:extLst>
                    <a:ext uri="{9D8B030D-6E8A-4147-A177-3AD203B41FA5}">
                      <a16:colId xmlns:a16="http://schemas.microsoft.com/office/drawing/2014/main" val="605306494"/>
                    </a:ext>
                  </a:extLst>
                </a:gridCol>
                <a:gridCol w="965200">
                  <a:extLst>
                    <a:ext uri="{9D8B030D-6E8A-4147-A177-3AD203B41FA5}">
                      <a16:colId xmlns:a16="http://schemas.microsoft.com/office/drawing/2014/main" val="1695342612"/>
                    </a:ext>
                  </a:extLst>
                </a:gridCol>
                <a:gridCol w="1100666">
                  <a:extLst>
                    <a:ext uri="{9D8B030D-6E8A-4147-A177-3AD203B41FA5}">
                      <a16:colId xmlns:a16="http://schemas.microsoft.com/office/drawing/2014/main" val="3484421517"/>
                    </a:ext>
                  </a:extLst>
                </a:gridCol>
                <a:gridCol w="1276456">
                  <a:extLst>
                    <a:ext uri="{9D8B030D-6E8A-4147-A177-3AD203B41FA5}">
                      <a16:colId xmlns:a16="http://schemas.microsoft.com/office/drawing/2014/main" val="3581665094"/>
                    </a:ext>
                  </a:extLst>
                </a:gridCol>
              </a:tblGrid>
              <a:tr h="368708">
                <a:tc>
                  <a:txBody>
                    <a:bodyPr/>
                    <a:lstStyle/>
                    <a:p>
                      <a:endParaRPr lang="en-US" dirty="0"/>
                    </a:p>
                  </a:txBody>
                  <a:tcPr/>
                </a:tc>
                <a:tc>
                  <a:txBody>
                    <a:bodyPr/>
                    <a:lstStyle/>
                    <a:p>
                      <a:r>
                        <a:rPr lang="en-US" dirty="0"/>
                        <a:t>Precision</a:t>
                      </a:r>
                    </a:p>
                  </a:txBody>
                  <a:tcPr/>
                </a:tc>
                <a:tc>
                  <a:txBody>
                    <a:bodyPr/>
                    <a:lstStyle/>
                    <a:p>
                      <a:r>
                        <a:rPr lang="en-US" dirty="0"/>
                        <a:t>Recall</a:t>
                      </a:r>
                    </a:p>
                  </a:txBody>
                  <a:tcPr/>
                </a:tc>
                <a:tc>
                  <a:txBody>
                    <a:bodyPr/>
                    <a:lstStyle/>
                    <a:p>
                      <a:r>
                        <a:rPr lang="en-US" dirty="0"/>
                        <a:t>F1-Score</a:t>
                      </a:r>
                    </a:p>
                  </a:txBody>
                  <a:tcPr/>
                </a:tc>
                <a:tc>
                  <a:txBody>
                    <a:bodyPr/>
                    <a:lstStyle/>
                    <a:p>
                      <a:r>
                        <a:rPr lang="en-US" dirty="0"/>
                        <a:t>Support</a:t>
                      </a:r>
                    </a:p>
                  </a:txBody>
                  <a:tcPr/>
                </a:tc>
                <a:extLst>
                  <a:ext uri="{0D108BD9-81ED-4DB2-BD59-A6C34878D82A}">
                    <a16:rowId xmlns:a16="http://schemas.microsoft.com/office/drawing/2014/main" val="1652656275"/>
                  </a:ext>
                </a:extLst>
              </a:tr>
              <a:tr h="368708">
                <a:tc>
                  <a:txBody>
                    <a:bodyPr/>
                    <a:lstStyle/>
                    <a:p>
                      <a:r>
                        <a:rPr lang="en-US" dirty="0"/>
                        <a:t>Africa</a:t>
                      </a:r>
                    </a:p>
                  </a:txBody>
                  <a:tcPr/>
                </a:tc>
                <a:tc>
                  <a:txBody>
                    <a:bodyPr/>
                    <a:lstStyle/>
                    <a:p>
                      <a:r>
                        <a:rPr lang="en-US" dirty="0"/>
                        <a:t>0.74</a:t>
                      </a:r>
                    </a:p>
                  </a:txBody>
                  <a:tcPr/>
                </a:tc>
                <a:tc>
                  <a:txBody>
                    <a:bodyPr/>
                    <a:lstStyle/>
                    <a:p>
                      <a:r>
                        <a:rPr lang="en-US" dirty="0"/>
                        <a:t>0.95</a:t>
                      </a:r>
                    </a:p>
                  </a:txBody>
                  <a:tcPr/>
                </a:tc>
                <a:tc>
                  <a:txBody>
                    <a:bodyPr/>
                    <a:lstStyle/>
                    <a:p>
                      <a:r>
                        <a:rPr lang="en-US" dirty="0"/>
                        <a:t>0.83</a:t>
                      </a:r>
                    </a:p>
                  </a:txBody>
                  <a:tcPr/>
                </a:tc>
                <a:tc>
                  <a:txBody>
                    <a:bodyPr/>
                    <a:lstStyle/>
                    <a:p>
                      <a:r>
                        <a:rPr lang="en-US" dirty="0"/>
                        <a:t>55</a:t>
                      </a:r>
                    </a:p>
                  </a:txBody>
                  <a:tcPr/>
                </a:tc>
                <a:extLst>
                  <a:ext uri="{0D108BD9-81ED-4DB2-BD59-A6C34878D82A}">
                    <a16:rowId xmlns:a16="http://schemas.microsoft.com/office/drawing/2014/main" val="3964603244"/>
                  </a:ext>
                </a:extLst>
              </a:tr>
              <a:tr h="368708">
                <a:tc>
                  <a:txBody>
                    <a:bodyPr/>
                    <a:lstStyle/>
                    <a:p>
                      <a:r>
                        <a:rPr lang="en-US" dirty="0"/>
                        <a:t>Asia</a:t>
                      </a:r>
                    </a:p>
                  </a:txBody>
                  <a:tcPr/>
                </a:tc>
                <a:tc>
                  <a:txBody>
                    <a:bodyPr/>
                    <a:lstStyle/>
                    <a:p>
                      <a:r>
                        <a:rPr lang="en-US" dirty="0"/>
                        <a:t>0.63</a:t>
                      </a:r>
                    </a:p>
                  </a:txBody>
                  <a:tcPr/>
                </a:tc>
                <a:tc>
                  <a:txBody>
                    <a:bodyPr/>
                    <a:lstStyle/>
                    <a:p>
                      <a:r>
                        <a:rPr lang="en-US" dirty="0"/>
                        <a:t>0.86</a:t>
                      </a:r>
                    </a:p>
                  </a:txBody>
                  <a:tcPr/>
                </a:tc>
                <a:tc>
                  <a:txBody>
                    <a:bodyPr/>
                    <a:lstStyle/>
                    <a:p>
                      <a:r>
                        <a:rPr lang="en-US" dirty="0"/>
                        <a:t>0.72</a:t>
                      </a:r>
                    </a:p>
                  </a:txBody>
                  <a:tcPr/>
                </a:tc>
                <a:tc>
                  <a:txBody>
                    <a:bodyPr/>
                    <a:lstStyle/>
                    <a:p>
                      <a:r>
                        <a:rPr lang="en-US" dirty="0"/>
                        <a:t>49</a:t>
                      </a:r>
                    </a:p>
                  </a:txBody>
                  <a:tcPr/>
                </a:tc>
                <a:extLst>
                  <a:ext uri="{0D108BD9-81ED-4DB2-BD59-A6C34878D82A}">
                    <a16:rowId xmlns:a16="http://schemas.microsoft.com/office/drawing/2014/main" val="3021392432"/>
                  </a:ext>
                </a:extLst>
              </a:tr>
              <a:tr h="368708">
                <a:tc>
                  <a:txBody>
                    <a:bodyPr/>
                    <a:lstStyle/>
                    <a:p>
                      <a:r>
                        <a:rPr lang="en-US" dirty="0"/>
                        <a:t>Europe</a:t>
                      </a:r>
                    </a:p>
                  </a:txBody>
                  <a:tcPr/>
                </a:tc>
                <a:tc>
                  <a:txBody>
                    <a:bodyPr/>
                    <a:lstStyle/>
                    <a:p>
                      <a:r>
                        <a:rPr lang="en-US" dirty="0"/>
                        <a:t>0.79</a:t>
                      </a:r>
                    </a:p>
                  </a:txBody>
                  <a:tcPr/>
                </a:tc>
                <a:tc>
                  <a:txBody>
                    <a:bodyPr/>
                    <a:lstStyle/>
                    <a:p>
                      <a:r>
                        <a:rPr lang="en-US" dirty="0"/>
                        <a:t>0.80</a:t>
                      </a:r>
                    </a:p>
                  </a:txBody>
                  <a:tcPr/>
                </a:tc>
                <a:tc>
                  <a:txBody>
                    <a:bodyPr/>
                    <a:lstStyle/>
                    <a:p>
                      <a:r>
                        <a:rPr lang="en-US" dirty="0"/>
                        <a:t>0.80</a:t>
                      </a:r>
                    </a:p>
                  </a:txBody>
                  <a:tcPr/>
                </a:tc>
                <a:tc>
                  <a:txBody>
                    <a:bodyPr/>
                    <a:lstStyle/>
                    <a:p>
                      <a:r>
                        <a:rPr lang="en-US" dirty="0"/>
                        <a:t>51</a:t>
                      </a:r>
                    </a:p>
                  </a:txBody>
                  <a:tcPr/>
                </a:tc>
                <a:extLst>
                  <a:ext uri="{0D108BD9-81ED-4DB2-BD59-A6C34878D82A}">
                    <a16:rowId xmlns:a16="http://schemas.microsoft.com/office/drawing/2014/main" val="3559699511"/>
                  </a:ext>
                </a:extLst>
              </a:tr>
              <a:tr h="636401">
                <a:tc>
                  <a:txBody>
                    <a:bodyPr/>
                    <a:lstStyle/>
                    <a:p>
                      <a:r>
                        <a:rPr lang="en-US" dirty="0"/>
                        <a:t>North America</a:t>
                      </a:r>
                    </a:p>
                  </a:txBody>
                  <a:tcPr/>
                </a:tc>
                <a:tc>
                  <a:txBody>
                    <a:bodyPr/>
                    <a:lstStyle/>
                    <a:p>
                      <a:r>
                        <a:rPr lang="en-US" dirty="0"/>
                        <a:t>0.67</a:t>
                      </a:r>
                    </a:p>
                  </a:txBody>
                  <a:tcPr/>
                </a:tc>
                <a:tc>
                  <a:txBody>
                    <a:bodyPr/>
                    <a:lstStyle/>
                    <a:p>
                      <a:r>
                        <a:rPr lang="en-US" dirty="0"/>
                        <a:t>0.35</a:t>
                      </a:r>
                    </a:p>
                  </a:txBody>
                  <a:tcPr/>
                </a:tc>
                <a:tc>
                  <a:txBody>
                    <a:bodyPr/>
                    <a:lstStyle/>
                    <a:p>
                      <a:r>
                        <a:rPr lang="en-US" dirty="0"/>
                        <a:t>0.46</a:t>
                      </a:r>
                    </a:p>
                  </a:txBody>
                  <a:tcPr/>
                </a:tc>
                <a:tc>
                  <a:txBody>
                    <a:bodyPr/>
                    <a:lstStyle/>
                    <a:p>
                      <a:r>
                        <a:rPr lang="en-US" dirty="0"/>
                        <a:t>34</a:t>
                      </a:r>
                    </a:p>
                  </a:txBody>
                  <a:tcPr/>
                </a:tc>
                <a:extLst>
                  <a:ext uri="{0D108BD9-81ED-4DB2-BD59-A6C34878D82A}">
                    <a16:rowId xmlns:a16="http://schemas.microsoft.com/office/drawing/2014/main" val="3000739656"/>
                  </a:ext>
                </a:extLst>
              </a:tr>
              <a:tr h="368708">
                <a:tc>
                  <a:txBody>
                    <a:bodyPr/>
                    <a:lstStyle/>
                    <a:p>
                      <a:r>
                        <a:rPr lang="en-US" dirty="0"/>
                        <a:t>Oceania</a:t>
                      </a:r>
                    </a:p>
                  </a:txBody>
                  <a:tcPr/>
                </a:tc>
                <a:tc>
                  <a:txBody>
                    <a:bodyPr/>
                    <a:lstStyle/>
                    <a:p>
                      <a:r>
                        <a:rPr lang="en-US" dirty="0"/>
                        <a:t>1.00</a:t>
                      </a:r>
                    </a:p>
                  </a:txBody>
                  <a:tcPr/>
                </a:tc>
                <a:tc>
                  <a:txBody>
                    <a:bodyPr/>
                    <a:lstStyle/>
                    <a:p>
                      <a:r>
                        <a:rPr lang="en-US" dirty="0"/>
                        <a:t>0.25</a:t>
                      </a:r>
                    </a:p>
                  </a:txBody>
                  <a:tcPr/>
                </a:tc>
                <a:tc>
                  <a:txBody>
                    <a:bodyPr/>
                    <a:lstStyle/>
                    <a:p>
                      <a:r>
                        <a:rPr lang="en-US" dirty="0"/>
                        <a:t>0.40</a:t>
                      </a:r>
                    </a:p>
                  </a:txBody>
                  <a:tcPr/>
                </a:tc>
                <a:tc>
                  <a:txBody>
                    <a:bodyPr/>
                    <a:lstStyle/>
                    <a:p>
                      <a:r>
                        <a:rPr lang="en-US" dirty="0"/>
                        <a:t>20</a:t>
                      </a:r>
                    </a:p>
                  </a:txBody>
                  <a:tcPr/>
                </a:tc>
                <a:extLst>
                  <a:ext uri="{0D108BD9-81ED-4DB2-BD59-A6C34878D82A}">
                    <a16:rowId xmlns:a16="http://schemas.microsoft.com/office/drawing/2014/main" val="539654364"/>
                  </a:ext>
                </a:extLst>
              </a:tr>
              <a:tr h="636401">
                <a:tc>
                  <a:txBody>
                    <a:bodyPr/>
                    <a:lstStyle/>
                    <a:p>
                      <a:r>
                        <a:rPr lang="en-US" dirty="0"/>
                        <a:t>Southern America</a:t>
                      </a:r>
                    </a:p>
                  </a:txBody>
                  <a:tcPr/>
                </a:tc>
                <a:tc>
                  <a:txBody>
                    <a:bodyPr/>
                    <a:lstStyle/>
                    <a:p>
                      <a:r>
                        <a:rPr lang="en-US" dirty="0"/>
                        <a:t>73</a:t>
                      </a:r>
                    </a:p>
                  </a:txBody>
                  <a:tcPr/>
                </a:tc>
                <a:tc>
                  <a:txBody>
                    <a:bodyPr/>
                    <a:lstStyle/>
                    <a:p>
                      <a:r>
                        <a:rPr lang="en-US" dirty="0"/>
                        <a:t>0.57</a:t>
                      </a:r>
                    </a:p>
                  </a:txBody>
                  <a:tcPr/>
                </a:tc>
                <a:tc>
                  <a:txBody>
                    <a:bodyPr/>
                    <a:lstStyle/>
                    <a:p>
                      <a:r>
                        <a:rPr lang="en-US" dirty="0"/>
                        <a:t>0.64</a:t>
                      </a:r>
                    </a:p>
                  </a:txBody>
                  <a:tcPr/>
                </a:tc>
                <a:tc>
                  <a:txBody>
                    <a:bodyPr/>
                    <a:lstStyle/>
                    <a:p>
                      <a:r>
                        <a:rPr lang="en-US" dirty="0"/>
                        <a:t>14</a:t>
                      </a:r>
                    </a:p>
                  </a:txBody>
                  <a:tcPr/>
                </a:tc>
                <a:extLst>
                  <a:ext uri="{0D108BD9-81ED-4DB2-BD59-A6C34878D82A}">
                    <a16:rowId xmlns:a16="http://schemas.microsoft.com/office/drawing/2014/main" val="148336984"/>
                  </a:ext>
                </a:extLst>
              </a:tr>
              <a:tr h="368708">
                <a:tc>
                  <a:txBody>
                    <a:bodyPr/>
                    <a:lstStyle/>
                    <a:p>
                      <a:r>
                        <a:rPr lang="en-US" dirty="0"/>
                        <a:t>Accuracy</a:t>
                      </a:r>
                    </a:p>
                  </a:txBody>
                  <a:tcPr/>
                </a:tc>
                <a:tc>
                  <a:txBody>
                    <a:bodyPr/>
                    <a:lstStyle/>
                    <a:p>
                      <a:endParaRPr lang="en-US" dirty="0"/>
                    </a:p>
                  </a:txBody>
                  <a:tcPr/>
                </a:tc>
                <a:tc>
                  <a:txBody>
                    <a:bodyPr/>
                    <a:lstStyle/>
                    <a:p>
                      <a:endParaRPr lang="en-US" dirty="0"/>
                    </a:p>
                  </a:txBody>
                  <a:tcPr/>
                </a:tc>
                <a:tc>
                  <a:txBody>
                    <a:bodyPr/>
                    <a:lstStyle/>
                    <a:p>
                      <a:r>
                        <a:rPr lang="en-US" dirty="0"/>
                        <a:t>0.72</a:t>
                      </a:r>
                    </a:p>
                  </a:txBody>
                  <a:tcPr/>
                </a:tc>
                <a:tc>
                  <a:txBody>
                    <a:bodyPr/>
                    <a:lstStyle/>
                    <a:p>
                      <a:r>
                        <a:rPr lang="en-US" dirty="0"/>
                        <a:t>223</a:t>
                      </a:r>
                    </a:p>
                  </a:txBody>
                  <a:tcPr/>
                </a:tc>
                <a:extLst>
                  <a:ext uri="{0D108BD9-81ED-4DB2-BD59-A6C34878D82A}">
                    <a16:rowId xmlns:a16="http://schemas.microsoft.com/office/drawing/2014/main" val="4243705396"/>
                  </a:ext>
                </a:extLst>
              </a:tr>
              <a:tr h="368708">
                <a:tc>
                  <a:txBody>
                    <a:bodyPr/>
                    <a:lstStyle/>
                    <a:p>
                      <a:r>
                        <a:rPr lang="en-US" dirty="0"/>
                        <a:t>Macro Avg</a:t>
                      </a:r>
                    </a:p>
                  </a:txBody>
                  <a:tcPr/>
                </a:tc>
                <a:tc>
                  <a:txBody>
                    <a:bodyPr/>
                    <a:lstStyle/>
                    <a:p>
                      <a:r>
                        <a:rPr lang="en-US" dirty="0"/>
                        <a:t>0.76</a:t>
                      </a:r>
                    </a:p>
                  </a:txBody>
                  <a:tcPr/>
                </a:tc>
                <a:tc>
                  <a:txBody>
                    <a:bodyPr/>
                    <a:lstStyle/>
                    <a:p>
                      <a:r>
                        <a:rPr lang="en-US" dirty="0"/>
                        <a:t>0.63</a:t>
                      </a:r>
                    </a:p>
                  </a:txBody>
                  <a:tcPr/>
                </a:tc>
                <a:tc>
                  <a:txBody>
                    <a:bodyPr/>
                    <a:lstStyle/>
                    <a:p>
                      <a:r>
                        <a:rPr lang="en-US" dirty="0"/>
                        <a:t>0.64</a:t>
                      </a:r>
                    </a:p>
                  </a:txBody>
                  <a:tcPr/>
                </a:tc>
                <a:tc>
                  <a:txBody>
                    <a:bodyPr/>
                    <a:lstStyle/>
                    <a:p>
                      <a:r>
                        <a:rPr lang="en-US" dirty="0"/>
                        <a:t>223</a:t>
                      </a:r>
                    </a:p>
                  </a:txBody>
                  <a:tcPr/>
                </a:tc>
                <a:extLst>
                  <a:ext uri="{0D108BD9-81ED-4DB2-BD59-A6C34878D82A}">
                    <a16:rowId xmlns:a16="http://schemas.microsoft.com/office/drawing/2014/main" val="1994716655"/>
                  </a:ext>
                </a:extLst>
              </a:tr>
              <a:tr h="627965">
                <a:tc>
                  <a:txBody>
                    <a:bodyPr/>
                    <a:lstStyle/>
                    <a:p>
                      <a:r>
                        <a:rPr lang="en-US" dirty="0"/>
                        <a:t>Weighted Avg</a:t>
                      </a:r>
                    </a:p>
                  </a:txBody>
                  <a:tcPr/>
                </a:tc>
                <a:tc>
                  <a:txBody>
                    <a:bodyPr/>
                    <a:lstStyle/>
                    <a:p>
                      <a:r>
                        <a:rPr lang="en-US" dirty="0"/>
                        <a:t>0.74</a:t>
                      </a:r>
                    </a:p>
                  </a:txBody>
                  <a:tcPr/>
                </a:tc>
                <a:tc>
                  <a:txBody>
                    <a:bodyPr/>
                    <a:lstStyle/>
                    <a:p>
                      <a:r>
                        <a:rPr lang="en-US" dirty="0"/>
                        <a:t>0.72</a:t>
                      </a:r>
                    </a:p>
                  </a:txBody>
                  <a:tcPr/>
                </a:tc>
                <a:tc>
                  <a:txBody>
                    <a:bodyPr/>
                    <a:lstStyle/>
                    <a:p>
                      <a:r>
                        <a:rPr lang="en-US" dirty="0"/>
                        <a:t>0.69</a:t>
                      </a:r>
                    </a:p>
                  </a:txBody>
                  <a:tcPr/>
                </a:tc>
                <a:tc>
                  <a:txBody>
                    <a:bodyPr/>
                    <a:lstStyle/>
                    <a:p>
                      <a:r>
                        <a:rPr lang="en-US" dirty="0"/>
                        <a:t>223</a:t>
                      </a:r>
                    </a:p>
                  </a:txBody>
                  <a:tcPr/>
                </a:tc>
                <a:extLst>
                  <a:ext uri="{0D108BD9-81ED-4DB2-BD59-A6C34878D82A}">
                    <a16:rowId xmlns:a16="http://schemas.microsoft.com/office/drawing/2014/main" val="2909466651"/>
                  </a:ext>
                </a:extLst>
              </a:tr>
            </a:tbl>
          </a:graphicData>
        </a:graphic>
      </p:graphicFrame>
      <p:sp>
        <p:nvSpPr>
          <p:cNvPr id="21" name="TextBox 20">
            <a:extLst>
              <a:ext uri="{FF2B5EF4-FFF2-40B4-BE49-F238E27FC236}">
                <a16:creationId xmlns:a16="http://schemas.microsoft.com/office/drawing/2014/main" id="{95FDAE6B-065D-143A-3933-62DDAA3BCE24}"/>
              </a:ext>
            </a:extLst>
          </p:cNvPr>
          <p:cNvSpPr txBox="1"/>
          <p:nvPr/>
        </p:nvSpPr>
        <p:spPr>
          <a:xfrm>
            <a:off x="5175143" y="5478193"/>
            <a:ext cx="5348924" cy="646331"/>
          </a:xfrm>
          <a:prstGeom prst="rect">
            <a:avLst/>
          </a:prstGeom>
          <a:noFill/>
        </p:spPr>
        <p:txBody>
          <a:bodyPr wrap="square" rtlCol="0">
            <a:spAutoFit/>
          </a:bodyPr>
          <a:lstStyle/>
          <a:p>
            <a:r>
              <a:rPr lang="en-US" dirty="0"/>
              <a:t>Best Ranked Continent: Europe </a:t>
            </a:r>
          </a:p>
          <a:p>
            <a:r>
              <a:rPr lang="en-US" dirty="0"/>
              <a:t>Accuracy: 0.7174887892376681</a:t>
            </a:r>
          </a:p>
        </p:txBody>
      </p:sp>
      <p:sp>
        <p:nvSpPr>
          <p:cNvPr id="23" name="TextBox 22">
            <a:extLst>
              <a:ext uri="{FF2B5EF4-FFF2-40B4-BE49-F238E27FC236}">
                <a16:creationId xmlns:a16="http://schemas.microsoft.com/office/drawing/2014/main" id="{675001D7-317C-ADDB-7CCB-573CF3F76154}"/>
              </a:ext>
            </a:extLst>
          </p:cNvPr>
          <p:cNvSpPr txBox="1"/>
          <p:nvPr/>
        </p:nvSpPr>
        <p:spPr>
          <a:xfrm>
            <a:off x="1024466" y="1588043"/>
            <a:ext cx="3642677" cy="4801314"/>
          </a:xfrm>
          <a:prstGeom prst="rect">
            <a:avLst/>
          </a:prstGeom>
          <a:noFill/>
        </p:spPr>
        <p:txBody>
          <a:bodyPr wrap="square" rtlCol="0">
            <a:spAutoFit/>
          </a:bodyPr>
          <a:lstStyle/>
          <a:p>
            <a:pPr marL="285750" indent="-285750">
              <a:buFont typeface="Arial" panose="020B0604020202020204" pitchFamily="34" charset="0"/>
              <a:buChar char="•"/>
            </a:pPr>
            <a:r>
              <a:rPr lang="en-US" dirty="0"/>
              <a:t>Since the target question involves a specific category, we are utilizing the KNN classification model with the model justification to the right.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Africa has the highest F-1 score with a 72% accuracy but when asked for the predicted continent, we were given Europe.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is quite an odd occurrence so we will utilize another classification model to further explore.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5619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FE95-42FD-9AB0-913D-DFE3A18AFAE9}"/>
              </a:ext>
            </a:extLst>
          </p:cNvPr>
          <p:cNvSpPr>
            <a:spLocks noGrp="1"/>
          </p:cNvSpPr>
          <p:nvPr>
            <p:ph type="title"/>
          </p:nvPr>
        </p:nvSpPr>
        <p:spPr>
          <a:xfrm>
            <a:off x="734591" y="976997"/>
            <a:ext cx="11034713" cy="1188227"/>
          </a:xfrm>
        </p:spPr>
        <p:txBody>
          <a:bodyPr/>
          <a:lstStyle/>
          <a:p>
            <a:r>
              <a:rPr lang="en-US" dirty="0"/>
              <a:t>Random forest</a:t>
            </a:r>
            <a:br>
              <a:rPr lang="en-US" dirty="0"/>
            </a:br>
            <a:r>
              <a:rPr lang="en-US" dirty="0"/>
              <a:t>classifier</a:t>
            </a:r>
          </a:p>
        </p:txBody>
      </p:sp>
      <p:sp>
        <p:nvSpPr>
          <p:cNvPr id="3" name="Slide Number Placeholder 2">
            <a:extLst>
              <a:ext uri="{FF2B5EF4-FFF2-40B4-BE49-F238E27FC236}">
                <a16:creationId xmlns:a16="http://schemas.microsoft.com/office/drawing/2014/main" id="{DCBC99EE-15DF-A164-D7A5-05B6D09C808B}"/>
              </a:ext>
            </a:extLst>
          </p:cNvPr>
          <p:cNvSpPr>
            <a:spLocks noGrp="1"/>
          </p:cNvSpPr>
          <p:nvPr>
            <p:ph type="sldNum" sz="quarter" idx="4"/>
          </p:nvPr>
        </p:nvSpPr>
        <p:spPr/>
        <p:txBody>
          <a:bodyPr/>
          <a:lstStyle/>
          <a:p>
            <a:fld id="{C3DB2ADC-AF19-4574-8C10-79B5B04FCA27}" type="slidenum">
              <a:rPr lang="en-US" smtClean="0"/>
              <a:pPr/>
              <a:t>8</a:t>
            </a:fld>
            <a:endParaRPr lang="en-US" dirty="0"/>
          </a:p>
        </p:txBody>
      </p:sp>
      <p:graphicFrame>
        <p:nvGraphicFramePr>
          <p:cNvPr id="20" name="Table 20">
            <a:extLst>
              <a:ext uri="{FF2B5EF4-FFF2-40B4-BE49-F238E27FC236}">
                <a16:creationId xmlns:a16="http://schemas.microsoft.com/office/drawing/2014/main" id="{39055AEC-FD98-E2B4-8844-59B596A54AB2}"/>
              </a:ext>
            </a:extLst>
          </p:cNvPr>
          <p:cNvGraphicFramePr>
            <a:graphicFrameLocks noGrp="1"/>
          </p:cNvGraphicFramePr>
          <p:nvPr>
            <p:ph sz="quarter" idx="10"/>
            <p:extLst>
              <p:ext uri="{D42A27DB-BD31-4B8C-83A1-F6EECF244321}">
                <p14:modId xmlns:p14="http://schemas.microsoft.com/office/powerpoint/2010/main" val="140086344"/>
              </p:ext>
            </p:extLst>
          </p:nvPr>
        </p:nvGraphicFramePr>
        <p:xfrm>
          <a:off x="5175143" y="1063944"/>
          <a:ext cx="5856923" cy="4480560"/>
        </p:xfrm>
        <a:graphic>
          <a:graphicData uri="http://schemas.openxmlformats.org/drawingml/2006/table">
            <a:tbl>
              <a:tblPr firstRow="1" bandRow="1">
                <a:tableStyleId>{C083E6E3-FA7D-4D7B-A595-EF9225AFEA82}</a:tableStyleId>
              </a:tblPr>
              <a:tblGrid>
                <a:gridCol w="1331060">
                  <a:extLst>
                    <a:ext uri="{9D8B030D-6E8A-4147-A177-3AD203B41FA5}">
                      <a16:colId xmlns:a16="http://schemas.microsoft.com/office/drawing/2014/main" val="4070928879"/>
                    </a:ext>
                  </a:extLst>
                </a:gridCol>
                <a:gridCol w="1183541">
                  <a:extLst>
                    <a:ext uri="{9D8B030D-6E8A-4147-A177-3AD203B41FA5}">
                      <a16:colId xmlns:a16="http://schemas.microsoft.com/office/drawing/2014/main" val="605306494"/>
                    </a:ext>
                  </a:extLst>
                </a:gridCol>
                <a:gridCol w="965200">
                  <a:extLst>
                    <a:ext uri="{9D8B030D-6E8A-4147-A177-3AD203B41FA5}">
                      <a16:colId xmlns:a16="http://schemas.microsoft.com/office/drawing/2014/main" val="1695342612"/>
                    </a:ext>
                  </a:extLst>
                </a:gridCol>
                <a:gridCol w="1100666">
                  <a:extLst>
                    <a:ext uri="{9D8B030D-6E8A-4147-A177-3AD203B41FA5}">
                      <a16:colId xmlns:a16="http://schemas.microsoft.com/office/drawing/2014/main" val="3484421517"/>
                    </a:ext>
                  </a:extLst>
                </a:gridCol>
                <a:gridCol w="1276456">
                  <a:extLst>
                    <a:ext uri="{9D8B030D-6E8A-4147-A177-3AD203B41FA5}">
                      <a16:colId xmlns:a16="http://schemas.microsoft.com/office/drawing/2014/main" val="3581665094"/>
                    </a:ext>
                  </a:extLst>
                </a:gridCol>
              </a:tblGrid>
              <a:tr h="361708">
                <a:tc>
                  <a:txBody>
                    <a:bodyPr/>
                    <a:lstStyle/>
                    <a:p>
                      <a:endParaRPr lang="en-US"/>
                    </a:p>
                  </a:txBody>
                  <a:tcPr/>
                </a:tc>
                <a:tc>
                  <a:txBody>
                    <a:bodyPr/>
                    <a:lstStyle/>
                    <a:p>
                      <a:r>
                        <a:rPr lang="en-US" dirty="0"/>
                        <a:t>Precision</a:t>
                      </a:r>
                    </a:p>
                  </a:txBody>
                  <a:tcPr/>
                </a:tc>
                <a:tc>
                  <a:txBody>
                    <a:bodyPr/>
                    <a:lstStyle/>
                    <a:p>
                      <a:r>
                        <a:rPr lang="en-US" dirty="0"/>
                        <a:t>Recall</a:t>
                      </a:r>
                    </a:p>
                  </a:txBody>
                  <a:tcPr/>
                </a:tc>
                <a:tc>
                  <a:txBody>
                    <a:bodyPr/>
                    <a:lstStyle/>
                    <a:p>
                      <a:r>
                        <a:rPr lang="en-US" dirty="0"/>
                        <a:t>F1-Score</a:t>
                      </a:r>
                    </a:p>
                  </a:txBody>
                  <a:tcPr/>
                </a:tc>
                <a:tc>
                  <a:txBody>
                    <a:bodyPr/>
                    <a:lstStyle/>
                    <a:p>
                      <a:r>
                        <a:rPr lang="en-US" dirty="0"/>
                        <a:t>Support</a:t>
                      </a:r>
                    </a:p>
                  </a:txBody>
                  <a:tcPr/>
                </a:tc>
                <a:extLst>
                  <a:ext uri="{0D108BD9-81ED-4DB2-BD59-A6C34878D82A}">
                    <a16:rowId xmlns:a16="http://schemas.microsoft.com/office/drawing/2014/main" val="1652656275"/>
                  </a:ext>
                </a:extLst>
              </a:tr>
              <a:tr h="361708">
                <a:tc>
                  <a:txBody>
                    <a:bodyPr/>
                    <a:lstStyle/>
                    <a:p>
                      <a:r>
                        <a:rPr lang="en-US" dirty="0"/>
                        <a:t>Africa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55</a:t>
                      </a:r>
                    </a:p>
                  </a:txBody>
                  <a:tcPr/>
                </a:tc>
                <a:extLst>
                  <a:ext uri="{0D108BD9-81ED-4DB2-BD59-A6C34878D82A}">
                    <a16:rowId xmlns:a16="http://schemas.microsoft.com/office/drawing/2014/main" val="3964603244"/>
                  </a:ext>
                </a:extLst>
              </a:tr>
              <a:tr h="361708">
                <a:tc>
                  <a:txBody>
                    <a:bodyPr/>
                    <a:lstStyle/>
                    <a:p>
                      <a:r>
                        <a:rPr lang="en-US" dirty="0"/>
                        <a:t>Asia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49</a:t>
                      </a:r>
                    </a:p>
                  </a:txBody>
                  <a:tcPr/>
                </a:tc>
                <a:extLst>
                  <a:ext uri="{0D108BD9-81ED-4DB2-BD59-A6C34878D82A}">
                    <a16:rowId xmlns:a16="http://schemas.microsoft.com/office/drawing/2014/main" val="3021392432"/>
                  </a:ext>
                </a:extLst>
              </a:tr>
              <a:tr h="361708">
                <a:tc>
                  <a:txBody>
                    <a:bodyPr/>
                    <a:lstStyle/>
                    <a:p>
                      <a:r>
                        <a:rPr lang="en-US" dirty="0"/>
                        <a:t>Europe</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51</a:t>
                      </a:r>
                    </a:p>
                  </a:txBody>
                  <a:tcPr/>
                </a:tc>
                <a:extLst>
                  <a:ext uri="{0D108BD9-81ED-4DB2-BD59-A6C34878D82A}">
                    <a16:rowId xmlns:a16="http://schemas.microsoft.com/office/drawing/2014/main" val="3559699511"/>
                  </a:ext>
                </a:extLst>
              </a:tr>
              <a:tr h="632989">
                <a:tc>
                  <a:txBody>
                    <a:bodyPr/>
                    <a:lstStyle/>
                    <a:p>
                      <a:r>
                        <a:rPr lang="en-US" dirty="0"/>
                        <a:t>North America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34</a:t>
                      </a:r>
                    </a:p>
                  </a:txBody>
                  <a:tcPr/>
                </a:tc>
                <a:extLst>
                  <a:ext uri="{0D108BD9-81ED-4DB2-BD59-A6C34878D82A}">
                    <a16:rowId xmlns:a16="http://schemas.microsoft.com/office/drawing/2014/main" val="3000739656"/>
                  </a:ext>
                </a:extLst>
              </a:tr>
              <a:tr h="361708">
                <a:tc>
                  <a:txBody>
                    <a:bodyPr/>
                    <a:lstStyle/>
                    <a:p>
                      <a:r>
                        <a:rPr lang="en-US" dirty="0"/>
                        <a:t>Oceania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20</a:t>
                      </a:r>
                    </a:p>
                  </a:txBody>
                  <a:tcPr/>
                </a:tc>
                <a:extLst>
                  <a:ext uri="{0D108BD9-81ED-4DB2-BD59-A6C34878D82A}">
                    <a16:rowId xmlns:a16="http://schemas.microsoft.com/office/drawing/2014/main" val="539654364"/>
                  </a:ext>
                </a:extLst>
              </a:tr>
              <a:tr h="632989">
                <a:tc>
                  <a:txBody>
                    <a:bodyPr/>
                    <a:lstStyle/>
                    <a:p>
                      <a:r>
                        <a:rPr lang="en-US" dirty="0"/>
                        <a:t>Southern America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14</a:t>
                      </a:r>
                    </a:p>
                  </a:txBody>
                  <a:tcPr/>
                </a:tc>
                <a:extLst>
                  <a:ext uri="{0D108BD9-81ED-4DB2-BD59-A6C34878D82A}">
                    <a16:rowId xmlns:a16="http://schemas.microsoft.com/office/drawing/2014/main" val="148336984"/>
                  </a:ext>
                </a:extLst>
              </a:tr>
              <a:tr h="361708">
                <a:tc>
                  <a:txBody>
                    <a:bodyPr/>
                    <a:lstStyle/>
                    <a:p>
                      <a:r>
                        <a:rPr lang="en-US" dirty="0"/>
                        <a:t>Accuracy</a:t>
                      </a:r>
                    </a:p>
                  </a:txBody>
                  <a:tcPr/>
                </a:tc>
                <a:tc>
                  <a:txBody>
                    <a:bodyPr/>
                    <a:lstStyle/>
                    <a:p>
                      <a:endParaRPr lang="en-US" dirty="0"/>
                    </a:p>
                  </a:txBody>
                  <a:tcPr/>
                </a:tc>
                <a:tc>
                  <a:txBody>
                    <a:bodyPr/>
                    <a:lstStyle/>
                    <a:p>
                      <a:endParaRPr lang="en-US" dirty="0"/>
                    </a:p>
                  </a:txBody>
                  <a:tcPr/>
                </a:tc>
                <a:tc>
                  <a:txBody>
                    <a:bodyPr/>
                    <a:lstStyle/>
                    <a:p>
                      <a:r>
                        <a:rPr lang="en-US" dirty="0"/>
                        <a:t>1</a:t>
                      </a:r>
                    </a:p>
                  </a:txBody>
                  <a:tcPr/>
                </a:tc>
                <a:tc>
                  <a:txBody>
                    <a:bodyPr/>
                    <a:lstStyle/>
                    <a:p>
                      <a:r>
                        <a:rPr lang="en-US" dirty="0"/>
                        <a:t>223</a:t>
                      </a:r>
                    </a:p>
                  </a:txBody>
                  <a:tcPr/>
                </a:tc>
                <a:extLst>
                  <a:ext uri="{0D108BD9-81ED-4DB2-BD59-A6C34878D82A}">
                    <a16:rowId xmlns:a16="http://schemas.microsoft.com/office/drawing/2014/main" val="4243705396"/>
                  </a:ext>
                </a:extLst>
              </a:tr>
              <a:tr h="361708">
                <a:tc>
                  <a:txBody>
                    <a:bodyPr/>
                    <a:lstStyle/>
                    <a:p>
                      <a:r>
                        <a:rPr lang="en-US" dirty="0"/>
                        <a:t>Macro Avg</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223</a:t>
                      </a:r>
                    </a:p>
                  </a:txBody>
                  <a:tcPr/>
                </a:tc>
                <a:extLst>
                  <a:ext uri="{0D108BD9-81ED-4DB2-BD59-A6C34878D82A}">
                    <a16:rowId xmlns:a16="http://schemas.microsoft.com/office/drawing/2014/main" val="1994716655"/>
                  </a:ext>
                </a:extLst>
              </a:tr>
              <a:tr h="632989">
                <a:tc>
                  <a:txBody>
                    <a:bodyPr/>
                    <a:lstStyle/>
                    <a:p>
                      <a:r>
                        <a:rPr lang="en-US" dirty="0"/>
                        <a:t>Weighted Avg</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223</a:t>
                      </a:r>
                    </a:p>
                  </a:txBody>
                  <a:tcPr/>
                </a:tc>
                <a:extLst>
                  <a:ext uri="{0D108BD9-81ED-4DB2-BD59-A6C34878D82A}">
                    <a16:rowId xmlns:a16="http://schemas.microsoft.com/office/drawing/2014/main" val="2909466651"/>
                  </a:ext>
                </a:extLst>
              </a:tr>
            </a:tbl>
          </a:graphicData>
        </a:graphic>
      </p:graphicFrame>
      <p:sp>
        <p:nvSpPr>
          <p:cNvPr id="4" name="TextBox 3">
            <a:extLst>
              <a:ext uri="{FF2B5EF4-FFF2-40B4-BE49-F238E27FC236}">
                <a16:creationId xmlns:a16="http://schemas.microsoft.com/office/drawing/2014/main" id="{4FDF5027-3C08-B249-438F-BF55994D4173}"/>
              </a:ext>
            </a:extLst>
          </p:cNvPr>
          <p:cNvSpPr txBox="1"/>
          <p:nvPr/>
        </p:nvSpPr>
        <p:spPr>
          <a:xfrm>
            <a:off x="5175143" y="5544504"/>
            <a:ext cx="3325390" cy="646331"/>
          </a:xfrm>
          <a:prstGeom prst="rect">
            <a:avLst/>
          </a:prstGeom>
          <a:noFill/>
        </p:spPr>
        <p:txBody>
          <a:bodyPr wrap="square" rtlCol="0">
            <a:spAutoFit/>
          </a:bodyPr>
          <a:lstStyle/>
          <a:p>
            <a:r>
              <a:rPr lang="en-US" dirty="0"/>
              <a:t>Best Ranked Continent: Africa</a:t>
            </a:r>
          </a:p>
          <a:p>
            <a:r>
              <a:rPr lang="en-US" dirty="0"/>
              <a:t>Accuracy: 1.0</a:t>
            </a:r>
          </a:p>
        </p:txBody>
      </p:sp>
      <p:sp>
        <p:nvSpPr>
          <p:cNvPr id="6" name="TextBox 5">
            <a:extLst>
              <a:ext uri="{FF2B5EF4-FFF2-40B4-BE49-F238E27FC236}">
                <a16:creationId xmlns:a16="http://schemas.microsoft.com/office/drawing/2014/main" id="{86C21380-1940-8A1D-D672-7548680CCED9}"/>
              </a:ext>
            </a:extLst>
          </p:cNvPr>
          <p:cNvSpPr txBox="1"/>
          <p:nvPr/>
        </p:nvSpPr>
        <p:spPr>
          <a:xfrm>
            <a:off x="734591" y="2165224"/>
            <a:ext cx="3924085" cy="4247317"/>
          </a:xfrm>
          <a:prstGeom prst="rect">
            <a:avLst/>
          </a:prstGeom>
          <a:noFill/>
        </p:spPr>
        <p:txBody>
          <a:bodyPr wrap="square" rtlCol="0">
            <a:spAutoFit/>
          </a:bodyPr>
          <a:lstStyle/>
          <a:p>
            <a:pPr marL="285750" indent="-285750">
              <a:buFont typeface="Arial" panose="020B0604020202020204" pitchFamily="34" charset="0"/>
              <a:buChar char="•"/>
            </a:pPr>
            <a:r>
              <a:rPr lang="en-US" dirty="0"/>
              <a:t>Since the target question involves a specific category and we want to use another classification method for accuracy, with the model justification to the right.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From this table, all scores are 1 insuring an 100% accuracy for the best ranked continent of Africa.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is very odd as we can see from the data that the overall life for Africa is among the lowest, along with male and female life.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2555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59" name="Straight Connector 205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63" name="Rectangle 206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A0336-F0A8-69AD-1BC1-136D70FD70F7}"/>
              </a:ext>
            </a:extLst>
          </p:cNvPr>
          <p:cNvSpPr>
            <a:spLocks noGrp="1"/>
          </p:cNvSpPr>
          <p:nvPr>
            <p:ph type="title"/>
          </p:nvPr>
        </p:nvSpPr>
        <p:spPr>
          <a:xfrm>
            <a:off x="704088" y="914400"/>
            <a:ext cx="10780776" cy="1180210"/>
          </a:xfrm>
        </p:spPr>
        <p:txBody>
          <a:bodyPr vert="horz" lIns="91440" tIns="45720" rIns="91440" bIns="45720" rtlCol="0" anchor="t">
            <a:normAutofit/>
          </a:bodyPr>
          <a:lstStyle/>
          <a:p>
            <a:r>
              <a:rPr lang="en-US" sz="4000"/>
              <a:t>Plotting the truth</a:t>
            </a:r>
          </a:p>
        </p:txBody>
      </p:sp>
      <p:sp>
        <p:nvSpPr>
          <p:cNvPr id="2056" name="Content Placeholder 2055">
            <a:extLst>
              <a:ext uri="{FF2B5EF4-FFF2-40B4-BE49-F238E27FC236}">
                <a16:creationId xmlns:a16="http://schemas.microsoft.com/office/drawing/2014/main" id="{61BFA14E-759D-325D-D479-814CDEC7F38A}"/>
              </a:ext>
            </a:extLst>
          </p:cNvPr>
          <p:cNvSpPr>
            <a:spLocks noGrp="1"/>
          </p:cNvSpPr>
          <p:nvPr>
            <p:ph sz="quarter" idx="10"/>
          </p:nvPr>
        </p:nvSpPr>
        <p:spPr>
          <a:xfrm>
            <a:off x="7961745" y="1789617"/>
            <a:ext cx="3876687" cy="4383272"/>
          </a:xfrm>
        </p:spPr>
        <p:txBody>
          <a:bodyPr vert="horz" lIns="91440" tIns="45720" rIns="91440" bIns="45720" rtlCol="0">
            <a:normAutofit fontScale="70000" lnSpcReduction="20000"/>
          </a:bodyPr>
          <a:lstStyle/>
          <a:p>
            <a:r>
              <a:rPr lang="en-US" sz="2300" dirty="0"/>
              <a:t>Since the models were giving us mixed signals, we decided to plot the findings using a violin plot to show the rank spread of each continent. </a:t>
            </a:r>
          </a:p>
          <a:p>
            <a:r>
              <a:rPr lang="en-US" sz="2300" dirty="0"/>
              <a:t>The plot does show that Africa does have the highest number of high ranked countries BUT we are actually looking for the continent with the highest amounts of low ranks since the high ranks means low overall life. </a:t>
            </a:r>
          </a:p>
          <a:p>
            <a:r>
              <a:rPr lang="en-US" sz="2300" dirty="0"/>
              <a:t>Given that information and the plot display, we conclude on Europe having the most amount of low ranked countries. </a:t>
            </a:r>
          </a:p>
          <a:p>
            <a:endParaRPr lang="en-US" dirty="0"/>
          </a:p>
        </p:txBody>
      </p:sp>
      <p:sp>
        <p:nvSpPr>
          <p:cNvPr id="5" name="Slide Number Placeholder 4">
            <a:extLst>
              <a:ext uri="{FF2B5EF4-FFF2-40B4-BE49-F238E27FC236}">
                <a16:creationId xmlns:a16="http://schemas.microsoft.com/office/drawing/2014/main" id="{9A6ECA22-2D4A-0DF0-3CE2-B6ED8568CD14}"/>
              </a:ext>
            </a:extLst>
          </p:cNvPr>
          <p:cNvSpPr>
            <a:spLocks noGrp="1"/>
          </p:cNvSpPr>
          <p:nvPr>
            <p:ph type="sldNum" sz="quarter" idx="4"/>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C3DB2ADC-AF19-4574-8C10-79B5B04FCA27}" type="slidenum">
              <a:rPr lang="en-US" sz="1800" smtClean="0"/>
              <a:pPr>
                <a:lnSpc>
                  <a:spcPct val="90000"/>
                </a:lnSpc>
                <a:spcAft>
                  <a:spcPts val="600"/>
                </a:spcAft>
              </a:pPr>
              <a:t>9</a:t>
            </a:fld>
            <a:endParaRPr lang="en-US" sz="1800"/>
          </a:p>
        </p:txBody>
      </p:sp>
      <p:cxnSp>
        <p:nvCxnSpPr>
          <p:cNvPr id="2065" name="Straight Connector 2064">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2052" name="Picture 4">
            <a:extLst>
              <a:ext uri="{FF2B5EF4-FFF2-40B4-BE49-F238E27FC236}">
                <a16:creationId xmlns:a16="http://schemas.microsoft.com/office/drawing/2014/main" id="{179085F5-B14A-C49E-28AA-DC3C660C3B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1736440"/>
            <a:ext cx="8041449" cy="4650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476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59" name="Straight Connector 205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63" name="Rectangle 206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A0336-F0A8-69AD-1BC1-136D70FD70F7}"/>
              </a:ext>
            </a:extLst>
          </p:cNvPr>
          <p:cNvSpPr>
            <a:spLocks noGrp="1"/>
          </p:cNvSpPr>
          <p:nvPr>
            <p:ph type="title"/>
          </p:nvPr>
        </p:nvSpPr>
        <p:spPr>
          <a:xfrm>
            <a:off x="704088" y="914400"/>
            <a:ext cx="10780776" cy="1180210"/>
          </a:xfrm>
        </p:spPr>
        <p:txBody>
          <a:bodyPr vert="horz" lIns="91440" tIns="45720" rIns="91440" bIns="45720" rtlCol="0" anchor="t">
            <a:normAutofit/>
          </a:bodyPr>
          <a:lstStyle/>
          <a:p>
            <a:r>
              <a:rPr lang="en-US" sz="4000"/>
              <a:t>Plotting the truth</a:t>
            </a:r>
          </a:p>
        </p:txBody>
      </p:sp>
      <p:sp>
        <p:nvSpPr>
          <p:cNvPr id="2056" name="Content Placeholder 2055">
            <a:extLst>
              <a:ext uri="{FF2B5EF4-FFF2-40B4-BE49-F238E27FC236}">
                <a16:creationId xmlns:a16="http://schemas.microsoft.com/office/drawing/2014/main" id="{61BFA14E-759D-325D-D479-814CDEC7F38A}"/>
              </a:ext>
            </a:extLst>
          </p:cNvPr>
          <p:cNvSpPr>
            <a:spLocks noGrp="1"/>
          </p:cNvSpPr>
          <p:nvPr>
            <p:ph sz="quarter" idx="10"/>
          </p:nvPr>
        </p:nvSpPr>
        <p:spPr>
          <a:xfrm>
            <a:off x="7961745" y="1789617"/>
            <a:ext cx="3876687" cy="4383272"/>
          </a:xfrm>
        </p:spPr>
        <p:txBody>
          <a:bodyPr vert="horz" lIns="91440" tIns="45720" rIns="91440" bIns="45720" rtlCol="0">
            <a:normAutofit fontScale="77500" lnSpcReduction="20000"/>
          </a:bodyPr>
          <a:lstStyle/>
          <a:p>
            <a:r>
              <a:rPr lang="en-US" sz="2300" dirty="0"/>
              <a:t>Since we know Overall Life is a viable feature for this target question, we plotted it against the country count in each continent. </a:t>
            </a:r>
          </a:p>
          <a:p>
            <a:r>
              <a:rPr lang="en-US" sz="2300" dirty="0"/>
              <a:t>From the plot, we can also see that Africa clearly has the highest number of low overall life ages as in this case having a high rank is not a good thing! </a:t>
            </a:r>
          </a:p>
          <a:p>
            <a:r>
              <a:rPr lang="en-US" sz="2300" dirty="0"/>
              <a:t>Also from the plot, we can conclude that Europe has the most countries with the highest overall life ages with North America coming in a close 2</a:t>
            </a:r>
            <a:r>
              <a:rPr lang="en-US" sz="2300" baseline="30000" dirty="0"/>
              <a:t>nd</a:t>
            </a:r>
            <a:r>
              <a:rPr lang="en-US" sz="2300" dirty="0"/>
              <a:t>. </a:t>
            </a:r>
          </a:p>
          <a:p>
            <a:endParaRPr lang="en-US" sz="2300" dirty="0"/>
          </a:p>
          <a:p>
            <a:endParaRPr lang="en-US" dirty="0"/>
          </a:p>
        </p:txBody>
      </p:sp>
      <p:sp>
        <p:nvSpPr>
          <p:cNvPr id="5" name="Slide Number Placeholder 4">
            <a:extLst>
              <a:ext uri="{FF2B5EF4-FFF2-40B4-BE49-F238E27FC236}">
                <a16:creationId xmlns:a16="http://schemas.microsoft.com/office/drawing/2014/main" id="{9A6ECA22-2D4A-0DF0-3CE2-B6ED8568CD14}"/>
              </a:ext>
            </a:extLst>
          </p:cNvPr>
          <p:cNvSpPr>
            <a:spLocks noGrp="1"/>
          </p:cNvSpPr>
          <p:nvPr>
            <p:ph type="sldNum" sz="quarter" idx="4"/>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C3DB2ADC-AF19-4574-8C10-79B5B04FCA27}" type="slidenum">
              <a:rPr lang="en-US" sz="1800" smtClean="0"/>
              <a:pPr>
                <a:lnSpc>
                  <a:spcPct val="90000"/>
                </a:lnSpc>
                <a:spcAft>
                  <a:spcPts val="600"/>
                </a:spcAft>
              </a:pPr>
              <a:t>10</a:t>
            </a:fld>
            <a:endParaRPr lang="en-US" sz="1800"/>
          </a:p>
        </p:txBody>
      </p:sp>
      <p:cxnSp>
        <p:nvCxnSpPr>
          <p:cNvPr id="2065" name="Straight Connector 2064">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076" name="Picture 4">
            <a:extLst>
              <a:ext uri="{FF2B5EF4-FFF2-40B4-BE49-F238E27FC236}">
                <a16:creationId xmlns:a16="http://schemas.microsoft.com/office/drawing/2014/main" id="{2EE3004E-ED80-A2F7-270F-1C2EDC634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43" y="1689722"/>
            <a:ext cx="7882227" cy="466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240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82A33-7ED3-A4A3-7E06-B568D6D134CD}"/>
              </a:ext>
            </a:extLst>
          </p:cNvPr>
          <p:cNvSpPr>
            <a:spLocks noGrp="1"/>
          </p:cNvSpPr>
          <p:nvPr>
            <p:ph type="title"/>
          </p:nvPr>
        </p:nvSpPr>
        <p:spPr>
          <a:xfrm>
            <a:off x="1077257" y="1016849"/>
            <a:ext cx="4058728" cy="704222"/>
          </a:xfrm>
        </p:spPr>
        <p:txBody>
          <a:bodyPr>
            <a:normAutofit fontScale="90000"/>
          </a:bodyPr>
          <a:lstStyle/>
          <a:p>
            <a:r>
              <a:rPr lang="en-US" dirty="0"/>
              <a:t>Conclusion &amp; Recommendations	</a:t>
            </a:r>
          </a:p>
        </p:txBody>
      </p:sp>
      <p:sp>
        <p:nvSpPr>
          <p:cNvPr id="9" name="Content Placeholder 8">
            <a:extLst>
              <a:ext uri="{FF2B5EF4-FFF2-40B4-BE49-F238E27FC236}">
                <a16:creationId xmlns:a16="http://schemas.microsoft.com/office/drawing/2014/main" id="{6777958E-E73E-C5A9-C0E3-3DD9808453DB}"/>
              </a:ext>
            </a:extLst>
          </p:cNvPr>
          <p:cNvSpPr>
            <a:spLocks noGrp="1"/>
          </p:cNvSpPr>
          <p:nvPr>
            <p:ph sz="quarter" idx="11"/>
          </p:nvPr>
        </p:nvSpPr>
        <p:spPr>
          <a:xfrm>
            <a:off x="999836" y="1785698"/>
            <a:ext cx="4064567" cy="1096048"/>
          </a:xfrm>
        </p:spPr>
        <p:txBody>
          <a:bodyPr/>
          <a:lstStyle/>
          <a:p>
            <a:pPr algn="ctr"/>
            <a:r>
              <a:rPr lang="en-US" b="1" noProof="1"/>
              <a:t>Which continent has the most countries with the highest ranks of survival? </a:t>
            </a:r>
          </a:p>
        </p:txBody>
      </p:sp>
      <p:sp>
        <p:nvSpPr>
          <p:cNvPr id="2" name="TextBox 1">
            <a:extLst>
              <a:ext uri="{FF2B5EF4-FFF2-40B4-BE49-F238E27FC236}">
                <a16:creationId xmlns:a16="http://schemas.microsoft.com/office/drawing/2014/main" id="{786C4472-7F86-96A8-862B-69D26146AEB8}"/>
              </a:ext>
            </a:extLst>
          </p:cNvPr>
          <p:cNvSpPr txBox="1"/>
          <p:nvPr/>
        </p:nvSpPr>
        <p:spPr>
          <a:xfrm>
            <a:off x="1071417" y="2948651"/>
            <a:ext cx="406456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short answer is Europe but the long and probably most accurate answer lies beneath more accurate models. </a:t>
            </a:r>
          </a:p>
        </p:txBody>
      </p:sp>
      <p:sp>
        <p:nvSpPr>
          <p:cNvPr id="3" name="TextBox 2">
            <a:extLst>
              <a:ext uri="{FF2B5EF4-FFF2-40B4-BE49-F238E27FC236}">
                <a16:creationId xmlns:a16="http://schemas.microsoft.com/office/drawing/2014/main" id="{05D09A6F-7650-2341-7EA7-A98BA7766ECC}"/>
              </a:ext>
            </a:extLst>
          </p:cNvPr>
          <p:cNvSpPr txBox="1"/>
          <p:nvPr/>
        </p:nvSpPr>
        <p:spPr>
          <a:xfrm>
            <a:off x="1071418" y="3863541"/>
            <a:ext cx="4064567" cy="2616101"/>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best model and most accurate out of the two was the KNN classifier similarity method. KNN Classifier - model seemed to be utilized properly by identifying the countries with the highest ranks and grouping them together in order to properly identify the continent with the highest count.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4EB000D3-2162-41F7-8638-8F550C903407}"/>
              </a:ext>
            </a:extLst>
          </p:cNvPr>
          <p:cNvSpPr txBox="1"/>
          <p:nvPr/>
        </p:nvSpPr>
        <p:spPr>
          <a:xfrm>
            <a:off x="5723467" y="1016849"/>
            <a:ext cx="5320915" cy="5016758"/>
          </a:xfrm>
          <a:prstGeom prst="rect">
            <a:avLst/>
          </a:prstGeom>
          <a:noFill/>
        </p:spPr>
        <p:txBody>
          <a:bodyPr wrap="square" rtlCol="0">
            <a:spAutoFit/>
          </a:bodyPr>
          <a:lstStyle/>
          <a:p>
            <a:pPr marL="285750" indent="-285750">
              <a:buFont typeface="Arial" panose="020B0604020202020204" pitchFamily="34" charset="0"/>
              <a:buChar char="•"/>
            </a:pPr>
            <a:r>
              <a:rPr lang="en-US" sz="1600" dirty="0"/>
              <a:t>Random Forest - we utilized this method with classifying in order to aggregate the countries with highest overall life ranks, incorporate the proper questions and grab the continent associated with target and support the accuracy. </a:t>
            </a:r>
          </a:p>
          <a:p>
            <a:endParaRPr lang="en-US" sz="1600" dirty="0"/>
          </a:p>
          <a:p>
            <a:pPr marL="285750" indent="-285750">
              <a:buFont typeface="Arial" panose="020B0604020202020204" pitchFamily="34" charset="0"/>
              <a:buChar char="•"/>
            </a:pPr>
            <a:r>
              <a:rPr lang="en-US" sz="1600" dirty="0"/>
              <a:t>Even though the model stated "Africa" and came out with an accuracy of 1, why does Africa have the lowest overall life expectancies ages? From looking at the question again, this model returned the programmed information BUT not what the target variable needs to accomplish. Main recommendation going forward would be to be more specific with the target question and use other models to confirm accuracy. </a:t>
            </a:r>
          </a:p>
          <a:p>
            <a:endParaRPr lang="en-US" sz="1600" dirty="0"/>
          </a:p>
          <a:p>
            <a:pPr marL="285750" indent="-285750">
              <a:buFont typeface="Arial" panose="020B0604020202020204" pitchFamily="34" charset="0"/>
              <a:buChar char="•"/>
            </a:pPr>
            <a:r>
              <a:rPr lang="en-US" sz="1600" dirty="0"/>
              <a:t>Technically Africa does have the most countries with the "highest ranks" of overall life BUT the "ranks" are misconstrued and the lower the rank the better. Concluding that KNN classifier model predicted the actual information that was needed. </a:t>
            </a:r>
          </a:p>
        </p:txBody>
      </p:sp>
    </p:spTree>
    <p:extLst>
      <p:ext uri="{BB962C8B-B14F-4D97-AF65-F5344CB8AC3E}">
        <p14:creationId xmlns:p14="http://schemas.microsoft.com/office/powerpoint/2010/main" val="2336809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E33A-4135-73E8-CB1F-8DE2CDBD68E9}"/>
              </a:ext>
            </a:extLst>
          </p:cNvPr>
          <p:cNvSpPr>
            <a:spLocks noGrp="1"/>
          </p:cNvSpPr>
          <p:nvPr>
            <p:ph type="title"/>
          </p:nvPr>
        </p:nvSpPr>
        <p:spPr>
          <a:xfrm>
            <a:off x="763439" y="684311"/>
            <a:ext cx="4058728" cy="585689"/>
          </a:xfrm>
        </p:spPr>
        <p:txBody>
          <a:bodyPr anchor="t"/>
          <a:lstStyle/>
          <a:p>
            <a:r>
              <a:rPr lang="en-US" dirty="0"/>
              <a:t>What’s next?</a:t>
            </a:r>
          </a:p>
        </p:txBody>
      </p:sp>
      <p:sp>
        <p:nvSpPr>
          <p:cNvPr id="3" name="Content Placeholder 2">
            <a:extLst>
              <a:ext uri="{FF2B5EF4-FFF2-40B4-BE49-F238E27FC236}">
                <a16:creationId xmlns:a16="http://schemas.microsoft.com/office/drawing/2014/main" id="{80AA8113-A5C3-BD6C-B1FC-742A4D9480BD}"/>
              </a:ext>
            </a:extLst>
          </p:cNvPr>
          <p:cNvSpPr>
            <a:spLocks noGrp="1"/>
          </p:cNvSpPr>
          <p:nvPr>
            <p:ph sz="quarter" idx="11"/>
          </p:nvPr>
        </p:nvSpPr>
        <p:spPr>
          <a:xfrm>
            <a:off x="763439" y="1761067"/>
            <a:ext cx="4064567" cy="3564467"/>
          </a:xfrm>
        </p:spPr>
        <p:txBody>
          <a:bodyPr/>
          <a:lstStyle/>
          <a:p>
            <a:pPr marL="342900" indent="-342900">
              <a:buFont typeface="Arial" panose="020B0604020202020204" pitchFamily="34" charset="0"/>
              <a:buChar char="•"/>
            </a:pPr>
            <a:r>
              <a:rPr lang="en-US" dirty="0"/>
              <a:t>How do Europeans stretch their life lengths? </a:t>
            </a:r>
          </a:p>
          <a:p>
            <a:pPr marL="342900" indent="-342900">
              <a:buFont typeface="Arial" panose="020B0604020202020204" pitchFamily="34" charset="0"/>
              <a:buChar char="•"/>
            </a:pPr>
            <a:r>
              <a:rPr lang="en-US" dirty="0"/>
              <a:t>Is their quality of life just as good as their length of life? </a:t>
            </a:r>
          </a:p>
          <a:p>
            <a:pPr marL="342900" indent="-342900">
              <a:buFont typeface="Arial" panose="020B0604020202020204" pitchFamily="34" charset="0"/>
              <a:buChar char="•"/>
            </a:pPr>
            <a:r>
              <a:rPr lang="en-US" dirty="0"/>
              <a:t>What practices of everyday life are being used in Europe that aren’t being used in any other continents to attribute to the life longevity?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5A5415A6-0EA2-2AD2-0484-651A370AA8AB}"/>
              </a:ext>
            </a:extLst>
          </p:cNvPr>
          <p:cNvSpPr>
            <a:spLocks noGrp="1"/>
          </p:cNvSpPr>
          <p:nvPr>
            <p:ph type="sldNum" sz="quarter" idx="4"/>
          </p:nvPr>
        </p:nvSpPr>
        <p:spPr/>
        <p:txBody>
          <a:bodyPr/>
          <a:lstStyle/>
          <a:p>
            <a:fld id="{C3DB2ADC-AF19-4574-8C10-79B5B04FCA27}" type="slidenum">
              <a:rPr lang="en-US" smtClean="0"/>
              <a:pPr/>
              <a:t>12</a:t>
            </a:fld>
            <a:endParaRPr lang="en-US" dirty="0"/>
          </a:p>
        </p:txBody>
      </p:sp>
      <p:sp>
        <p:nvSpPr>
          <p:cNvPr id="6" name="Content Placeholder 2">
            <a:extLst>
              <a:ext uri="{FF2B5EF4-FFF2-40B4-BE49-F238E27FC236}">
                <a16:creationId xmlns:a16="http://schemas.microsoft.com/office/drawing/2014/main" id="{F8383713-AC59-2214-8AA9-B74FE775B661}"/>
              </a:ext>
            </a:extLst>
          </p:cNvPr>
          <p:cNvSpPr txBox="1">
            <a:spLocks/>
          </p:cNvSpPr>
          <p:nvPr/>
        </p:nvSpPr>
        <p:spPr>
          <a:xfrm>
            <a:off x="6854445" y="1761066"/>
            <a:ext cx="4064567" cy="3564467"/>
          </a:xfrm>
          <a:prstGeom prst="rect">
            <a:avLst/>
          </a:prstGeom>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We could answer a million questions and have a million answers more. </a:t>
            </a:r>
          </a:p>
          <a:p>
            <a:pPr marL="342900" indent="-342900">
              <a:buFont typeface="Arial" panose="020B0604020202020204" pitchFamily="34" charset="0"/>
              <a:buChar char="•"/>
            </a:pPr>
            <a:r>
              <a:rPr lang="en-US" dirty="0"/>
              <a:t>The data pinpoints a group of beings utilizing a certain lifestyle that helps them live longer than anyone else on the planet. </a:t>
            </a:r>
          </a:p>
          <a:p>
            <a:pPr marL="342900" indent="-342900">
              <a:buFont typeface="Arial" panose="020B0604020202020204" pitchFamily="34" charset="0"/>
              <a:buChar char="•"/>
            </a:pPr>
            <a:r>
              <a:rPr lang="en-US" dirty="0"/>
              <a:t>Overall, we can learn the do’s and don’t of living the longest life possible. </a:t>
            </a:r>
          </a:p>
        </p:txBody>
      </p:sp>
    </p:spTree>
    <p:extLst>
      <p:ext uri="{BB962C8B-B14F-4D97-AF65-F5344CB8AC3E}">
        <p14:creationId xmlns:p14="http://schemas.microsoft.com/office/powerpoint/2010/main" val="34425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796C4E-41C8-0AB3-6886-FBB7C569658B}"/>
              </a:ext>
            </a:extLst>
          </p:cNvPr>
          <p:cNvSpPr>
            <a:spLocks noGrp="1"/>
          </p:cNvSpPr>
          <p:nvPr>
            <p:ph type="title"/>
          </p:nvPr>
        </p:nvSpPr>
        <p:spPr/>
        <p:txBody>
          <a:bodyPr/>
          <a:lstStyle/>
          <a:p>
            <a:r>
              <a:rPr lang="en-US" dirty="0"/>
              <a:t>Thank you! </a:t>
            </a:r>
          </a:p>
        </p:txBody>
      </p:sp>
      <p:sp>
        <p:nvSpPr>
          <p:cNvPr id="9" name="Content Placeholder 8">
            <a:extLst>
              <a:ext uri="{FF2B5EF4-FFF2-40B4-BE49-F238E27FC236}">
                <a16:creationId xmlns:a16="http://schemas.microsoft.com/office/drawing/2014/main" id="{C1E39F92-B979-41AB-0918-CE4FADCA0D09}"/>
              </a:ext>
            </a:extLst>
          </p:cNvPr>
          <p:cNvSpPr>
            <a:spLocks noGrp="1"/>
          </p:cNvSpPr>
          <p:nvPr>
            <p:ph sz="quarter" idx="11"/>
          </p:nvPr>
        </p:nvSpPr>
        <p:spPr/>
        <p:txBody>
          <a:bodyPr/>
          <a:lstStyle/>
          <a:p>
            <a:r>
              <a:rPr lang="en-US" dirty="0"/>
              <a:t>Jonard Bennett</a:t>
            </a:r>
          </a:p>
          <a:p>
            <a:r>
              <a:rPr lang="en-US" dirty="0"/>
              <a:t>678-883-7165 </a:t>
            </a:r>
          </a:p>
          <a:p>
            <a:r>
              <a:rPr lang="en-US" dirty="0"/>
              <a:t>jbennett239@gmail.com</a:t>
            </a:r>
          </a:p>
        </p:txBody>
      </p:sp>
    </p:spTree>
    <p:extLst>
      <p:ext uri="{BB962C8B-B14F-4D97-AF65-F5344CB8AC3E}">
        <p14:creationId xmlns:p14="http://schemas.microsoft.com/office/powerpoint/2010/main" val="206869891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78B3239-FE1A-45AC-BACA-CC3412D875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916DD8-9028-41F0-AB19-FE384D2009A2}">
  <ds:schemaRefs>
    <ds:schemaRef ds:uri="http://schemas.microsoft.com/sharepoint/v3/contenttype/forms"/>
  </ds:schemaRefs>
</ds:datastoreItem>
</file>

<file path=customXml/itemProps3.xml><?xml version="1.0" encoding="utf-8"?>
<ds:datastoreItem xmlns:ds="http://schemas.openxmlformats.org/officeDocument/2006/customXml" ds:itemID="{D1C92F81-A6B6-4190-80A1-406B3B4C18B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{97DB1241-6C81-4DD4-AA88-CF6EB48442A9}tf67498733_win32</Template>
  <TotalTime>3016</TotalTime>
  <Words>1213</Words>
  <Application>Microsoft Office PowerPoint</Application>
  <PresentationFormat>Widescreen</PresentationFormat>
  <Paragraphs>188</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Calisto MT</vt:lpstr>
      <vt:lpstr>Univers Condensed</vt:lpstr>
      <vt:lpstr>ChronicleVTI</vt:lpstr>
      <vt:lpstr>World Life expectancy        </vt:lpstr>
      <vt:lpstr>How many years will we live? </vt:lpstr>
      <vt:lpstr>INformation overview</vt:lpstr>
      <vt:lpstr>Data Cleaning and Feature Engineering</vt:lpstr>
      <vt:lpstr>Normally Distributed Enough?</vt:lpstr>
      <vt:lpstr>Which Classifying model works  best for the target? </vt:lpstr>
      <vt:lpstr>Knn classification</vt:lpstr>
      <vt:lpstr>Random forest classifier</vt:lpstr>
      <vt:lpstr>Plotting the truth</vt:lpstr>
      <vt:lpstr>Plotting the truth</vt:lpstr>
      <vt:lpstr>Conclusion &amp; Recommendations </vt:lpstr>
      <vt:lpstr>What’s next?</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Life expectancy        </dc:title>
  <dc:creator>Jonard Bennett</dc:creator>
  <cp:lastModifiedBy>Jonard Bennett</cp:lastModifiedBy>
  <cp:revision>5</cp:revision>
  <dcterms:created xsi:type="dcterms:W3CDTF">2024-08-07T10:24:53Z</dcterms:created>
  <dcterms:modified xsi:type="dcterms:W3CDTF">2024-09-01T04:14:49Z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f7e64d13-d8d0-4de5-8187-9614de484b90_Enabled">
    <vt:lpwstr>true</vt:lpwstr>
  </property>
  <property fmtid="{D5CDD505-2E9C-101B-9397-08002B2CF9AE}" pid="4" name="MSIP_Label_f7e64d13-d8d0-4de5-8187-9614de484b90_SetDate">
    <vt:lpwstr>2024-08-08T10:50:09Z</vt:lpwstr>
  </property>
  <property fmtid="{D5CDD505-2E9C-101B-9397-08002B2CF9AE}" pid="5" name="MSIP_Label_f7e64d13-d8d0-4de5-8187-9614de484b90_Method">
    <vt:lpwstr>Standard</vt:lpwstr>
  </property>
  <property fmtid="{D5CDD505-2E9C-101B-9397-08002B2CF9AE}" pid="6" name="MSIP_Label_f7e64d13-d8d0-4de5-8187-9614de484b90_Name">
    <vt:lpwstr>f7e64d13-d8d0-4de5-8187-9614de484b90</vt:lpwstr>
  </property>
  <property fmtid="{D5CDD505-2E9C-101B-9397-08002B2CF9AE}" pid="7" name="MSIP_Label_f7e64d13-d8d0-4de5-8187-9614de484b90_SiteId">
    <vt:lpwstr>c4dde173-b56e-463d-a6e0-0983142ad7ed</vt:lpwstr>
  </property>
  <property fmtid="{D5CDD505-2E9C-101B-9397-08002B2CF9AE}" pid="8" name="MSIP_Label_f7e64d13-d8d0-4de5-8187-9614de484b90_ActionId">
    <vt:lpwstr>a6fcb172-7b0b-4e70-a1bb-e8801f608fd4</vt:lpwstr>
  </property>
  <property fmtid="{D5CDD505-2E9C-101B-9397-08002B2CF9AE}" pid="9" name="MSIP_Label_f7e64d13-d8d0-4de5-8187-9614de484b90_ContentBits">
    <vt:lpwstr>0</vt:lpwstr>
  </property>
</Properties>
</file>